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Team Maverick, and today we're presenting Grid Guard—a solution that transforms how utilities manage their most critical assets. We're competing in the AI track for Use Case U1.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isn't a lack of data; it's a lack of synthesis. Utilities are drowning in sensor telemetry that sits unread in SCADA historians while they stick to rigid, calendar-based maintenance schedules that ignore the actual condition of the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transformer fails unexpectedly, the clock starts at a million dollars per hour in lost revenue and emergency costs. These failures are often predictable days in advance, yet the status quo remains reactive and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Guard solves this through a four-stage workflow: we fuse telemetry and weather data in Neon Postgres, predict failure probability with XGBoost, rank by grid-impact severity, and finally, use IBM Bob to generate an actionable crew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is built for operational reality. From data generation to a Streamlit dashboard, every step is designed to bridge the gap between complex ML outputs and the clear, ranked views that operators need to make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Bob and watsonx.ai are the final, critical link. While deterministic code handles the heavy lifting of scoring, Bob synthesizes that data into plain-English field briefings, turning a spreadsheet of risk scores into a clear decision for the crew.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Crucially, we understand that probability is not priority. Our severity engine ensures that a high-impact backbone failure always outranks a lower-impact feeder risk, even if the feeder has a higher probability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Guard is ready for utility deployment. We can swap in real SCADA feeds today, retrain on specific historical records tomorrow, and ultimately scale to reduce costs and improve grid reliability across entire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closing, Grid Guard is about turning signals into action. Fuse the data, rank the risk, and act before the outage happens. We are Team Maverick.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660071"/>
          </a:xfrm>
          <a:prstGeom prst="rect">
            <a:avLst/>
          </a:prstGeom>
          <a:noFill/>
          <a:ln/>
        </p:spPr>
        <p:txBody>
          <a:bodyPr wrap="none" lIns="0" tIns="0" rIns="0" bIns="0" rtlCol="0" anchor="t">
            <a:spAutoFit/>
          </a:bodyPr>
          <a:lstStyle/>
          <a:p>
            <a:pPr algn="l" indent="0" marL="0">
              <a:lnSpc>
                <a:spcPct val="88000"/>
              </a:lnSpc>
              <a:buNone/>
            </a:pPr>
            <a:r>
              <a:rPr lang="en-US" sz="4350" b="1" spc="-2" kern="0" dirty="0">
                <a:solidFill>
                  <a:srgbClr val="F0F4F8"/>
                </a:solidFill>
                <a:latin typeface="Space Grotesk Bold" pitchFamily="34" charset="0"/>
                <a:ea typeface="Space Grotesk Bold" pitchFamily="34" charset="-122"/>
                <a:cs typeface="Space Grotesk Bold" pitchFamily="34" charset="-120"/>
              </a:rPr>
              <a:t>GRID GUARD</a:t>
            </a:r>
            <a:endParaRPr lang="en-US" sz="4350" dirty="0"/>
          </a:p>
        </p:txBody>
      </p:sp>
      <p:sp>
        <p:nvSpPr>
          <p:cNvPr id="5" name="Text 1"/>
          <p:cNvSpPr/>
          <p:nvPr/>
        </p:nvSpPr>
        <p:spPr>
          <a:xfrm>
            <a:off x="285750" y="1431596"/>
            <a:ext cx="5715000" cy="550069"/>
          </a:xfrm>
          <a:prstGeom prst="rect">
            <a:avLst/>
          </a:prstGeom>
          <a:noFill/>
          <a:ln/>
        </p:spPr>
        <p:txBody>
          <a:bodyPr wrap="square" lIns="0" tIns="0" rIns="0" bIns="0" rtlCol="0" anchor="t">
            <a:spAutoFit/>
          </a:bodyPr>
          <a:lstStyle/>
          <a:p>
            <a:pPr algn="l" indent="0" marL="0">
              <a:buNone/>
            </a:pPr>
            <a:r>
              <a:rPr lang="en-US" sz="1700" dirty="0">
                <a:solidFill>
                  <a:srgbClr val="8D99AE"/>
                </a:solidFill>
                <a:latin typeface="Inter" pitchFamily="34" charset="0"/>
                <a:ea typeface="Inter" pitchFamily="34" charset="-122"/>
                <a:cs typeface="Inter" pitchFamily="34" charset="-120"/>
              </a:rPr>
              <a:t>Power Outage Prediction &amp; Grid Equipment Failure Advisor</a:t>
            </a:r>
            <a:endParaRPr lang="en-US" sz="1700" dirty="0"/>
          </a:p>
        </p:txBody>
      </p:sp>
      <p:sp>
        <p:nvSpPr>
          <p:cNvPr id="6" name="Text 2"/>
          <p:cNvSpPr/>
          <p:nvPr/>
        </p:nvSpPr>
        <p:spPr>
          <a:xfrm>
            <a:off x="285750" y="4482703"/>
            <a:ext cx="4143375" cy="128588"/>
          </a:xfrm>
          <a:prstGeom prst="rect">
            <a:avLst/>
          </a:prstGeom>
          <a:noFill/>
          <a:ln/>
        </p:spPr>
        <p:txBody>
          <a:bodyPr wrap="square" lIns="0" tIns="0" rIns="0" bIns="0" rtlCol="0" anchor="t">
            <a:spAutoFit/>
          </a:bodyPr>
          <a:lstStyle/>
          <a:p>
            <a:pPr algn="l" indent="0" marL="0">
              <a:buNone/>
            </a:pPr>
            <a:r>
              <a:rPr lang="en-US" sz="700" b="1" spc="2" kern="0" dirty="0">
                <a:solidFill>
                  <a:srgbClr val="00E5FF"/>
                </a:solidFill>
                <a:latin typeface="Space Grotesk Bold" pitchFamily="34" charset="0"/>
                <a:ea typeface="Space Grotesk Bold" pitchFamily="34" charset="-122"/>
                <a:cs typeface="Space Grotesk Bold" pitchFamily="34" charset="-120"/>
              </a:rPr>
              <a:t>TEAM MAVERICK</a:t>
            </a:r>
            <a:endParaRPr lang="en-US" sz="700" dirty="0"/>
          </a:p>
        </p:txBody>
      </p:sp>
      <p:sp>
        <p:nvSpPr>
          <p:cNvPr id="7" name="Text 3"/>
          <p:cNvSpPr/>
          <p:nvPr/>
        </p:nvSpPr>
        <p:spPr>
          <a:xfrm>
            <a:off x="285750" y="4682728"/>
            <a:ext cx="4143375" cy="175022"/>
          </a:xfrm>
          <a:prstGeom prst="rect">
            <a:avLst/>
          </a:prstGeom>
          <a:noFill/>
          <a:ln/>
        </p:spPr>
        <p:txBody>
          <a:bodyPr wrap="square" lIns="0" tIns="0" rIns="0" bIns="0" rtlCol="0" anchor="t">
            <a:spAutoFit/>
          </a:bodyPr>
          <a:lstStyle/>
          <a:p>
            <a:pPr algn="l" indent="0" marL="0">
              <a:buNone/>
            </a:pPr>
            <a:r>
              <a:rPr lang="en-US" sz="1000" b="1" dirty="0">
                <a:solidFill>
                  <a:srgbClr val="F0F4F8"/>
                </a:solidFill>
                <a:latin typeface="Inter SemiBold" pitchFamily="34" charset="0"/>
                <a:ea typeface="Inter SemiBold" pitchFamily="34" charset="-122"/>
                <a:cs typeface="Inter SemiBold" pitchFamily="34" charset="-120"/>
              </a:rPr>
              <a:t>Heet Dadhaniya, Axit Dudhat, Aryan Jivani, Parth Vora</a:t>
            </a:r>
            <a:endParaRPr lang="en-US" sz="1000" dirty="0"/>
          </a:p>
        </p:txBody>
      </p:sp>
      <p:sp>
        <p:nvSpPr>
          <p:cNvPr id="8" name="Text 4"/>
          <p:cNvSpPr/>
          <p:nvPr/>
        </p:nvSpPr>
        <p:spPr>
          <a:xfrm>
            <a:off x="4714875" y="4482703"/>
            <a:ext cx="4143375" cy="128588"/>
          </a:xfrm>
          <a:prstGeom prst="rect">
            <a:avLst/>
          </a:prstGeom>
          <a:noFill/>
          <a:ln/>
        </p:spPr>
        <p:txBody>
          <a:bodyPr wrap="square" lIns="0" tIns="0" rIns="0" bIns="0" rtlCol="0" anchor="t">
            <a:spAutoFit/>
          </a:bodyPr>
          <a:lstStyle/>
          <a:p>
            <a:pPr algn="l" indent="0" marL="0">
              <a:buNone/>
            </a:pPr>
            <a:r>
              <a:rPr lang="en-US" sz="700" b="1" spc="2" kern="0" dirty="0">
                <a:solidFill>
                  <a:srgbClr val="00E5FF"/>
                </a:solidFill>
                <a:latin typeface="Space Grotesk Bold" pitchFamily="34" charset="0"/>
                <a:ea typeface="Space Grotesk Bold" pitchFamily="34" charset="-122"/>
                <a:cs typeface="Space Grotesk Bold" pitchFamily="34" charset="-120"/>
              </a:rPr>
              <a:t>COMPETITION TRACK</a:t>
            </a:r>
            <a:endParaRPr lang="en-US" sz="700" dirty="0"/>
          </a:p>
        </p:txBody>
      </p:sp>
      <p:sp>
        <p:nvSpPr>
          <p:cNvPr id="9" name="Text 5"/>
          <p:cNvSpPr/>
          <p:nvPr/>
        </p:nvSpPr>
        <p:spPr>
          <a:xfrm>
            <a:off x="4714875" y="4682728"/>
            <a:ext cx="4143375" cy="175022"/>
          </a:xfrm>
          <a:prstGeom prst="rect">
            <a:avLst/>
          </a:prstGeom>
          <a:noFill/>
          <a:ln/>
        </p:spPr>
        <p:txBody>
          <a:bodyPr wrap="square" lIns="0" tIns="0" rIns="0" bIns="0" rtlCol="0" anchor="t">
            <a:spAutoFit/>
          </a:bodyPr>
          <a:lstStyle/>
          <a:p>
            <a:pPr algn="l" indent="0" marL="0">
              <a:buNone/>
            </a:pPr>
            <a:r>
              <a:rPr lang="en-US" sz="1000" b="1" dirty="0">
                <a:solidFill>
                  <a:srgbClr val="F0F4F8"/>
                </a:solidFill>
                <a:latin typeface="Inter SemiBold" pitchFamily="34" charset="0"/>
                <a:ea typeface="Inter SemiBold" pitchFamily="34" charset="-122"/>
                <a:cs typeface="Inter SemiBold" pitchFamily="34" charset="-120"/>
              </a:rPr>
              <a:t>Bobathon · Track: AI · Use Case: U1</a:t>
            </a:r>
            <a:endParaRPr lang="en-US" sz="1000" dirty="0"/>
          </a:p>
        </p:txBody>
      </p:sp>
      <p:sp>
        <p:nvSpPr>
          <p:cNvPr id="10" name="Text 6"/>
          <p:cNvSpPr/>
          <p:nvPr/>
        </p:nvSpPr>
        <p:spPr>
          <a:xfrm>
            <a:off x="8754666" y="4736306"/>
            <a:ext cx="103584"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THE GRID IS SIGNALING FAILURE BEFORE IT HAPPENS</a:t>
            </a:r>
            <a:endParaRPr lang="en-US" sz="1600" dirty="0"/>
          </a:p>
        </p:txBody>
      </p:sp>
      <p:sp>
        <p:nvSpPr>
          <p:cNvPr id="5" name="Text 1"/>
          <p:cNvSpPr/>
          <p:nvPr/>
        </p:nvSpPr>
        <p:spPr>
          <a:xfrm>
            <a:off x="285750" y="1164431"/>
            <a:ext cx="40719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MISSED SIGNALS</a:t>
            </a:r>
            <a:endParaRPr lang="en-US" sz="1000" dirty="0"/>
          </a:p>
        </p:txBody>
      </p:sp>
      <p:sp>
        <p:nvSpPr>
          <p:cNvPr id="6" name="Text 2"/>
          <p:cNvSpPr/>
          <p:nvPr/>
        </p:nvSpPr>
        <p:spPr>
          <a:xfrm>
            <a:off x="285750" y="1418034"/>
            <a:ext cx="4071938"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Utilities run on calendar-based maintenance, ignoring condition signals already streaming from sensors into SCADA historians.</a:t>
            </a:r>
            <a:endParaRPr lang="en-US" sz="950" dirty="0"/>
          </a:p>
        </p:txBody>
      </p:sp>
      <p:sp>
        <p:nvSpPr>
          <p:cNvPr id="7" name="Text 3"/>
          <p:cNvSpPr/>
          <p:nvPr/>
        </p:nvSpPr>
        <p:spPr>
          <a:xfrm>
            <a:off x="285750" y="2571415"/>
            <a:ext cx="40719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INCREASING RISK</a:t>
            </a:r>
            <a:endParaRPr lang="en-US" sz="1000" dirty="0"/>
          </a:p>
        </p:txBody>
      </p:sp>
      <p:sp>
        <p:nvSpPr>
          <p:cNvPr id="8" name="Text 4"/>
          <p:cNvSpPr/>
          <p:nvPr/>
        </p:nvSpPr>
        <p:spPr>
          <a:xfrm>
            <a:off x="285750" y="2825018"/>
            <a:ext cx="4071938"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Aging infrastructure, extreme weather events, and growing renewable loads are making the status quo dangerous.</a:t>
            </a:r>
            <a:endParaRPr lang="en-US" sz="950" dirty="0"/>
          </a:p>
        </p:txBody>
      </p:sp>
      <p:sp>
        <p:nvSpPr>
          <p:cNvPr id="9" name="Text 5"/>
          <p:cNvSpPr/>
          <p:nvPr/>
        </p:nvSpPr>
        <p:spPr>
          <a:xfrm>
            <a:off x="285750" y="3978399"/>
            <a:ext cx="40719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PREDICTABLE REALITY</a:t>
            </a:r>
            <a:endParaRPr lang="en-US" sz="1000" dirty="0"/>
          </a:p>
        </p:txBody>
      </p:sp>
      <p:sp>
        <p:nvSpPr>
          <p:cNvPr id="10" name="Text 6"/>
          <p:cNvSpPr/>
          <p:nvPr/>
        </p:nvSpPr>
        <p:spPr>
          <a:xfrm>
            <a:off x="285750" y="4232002"/>
            <a:ext cx="4071938"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Signals like temperature, vibration, and partial discharge are available but unread, leading to unexpected failures.</a:t>
            </a:r>
            <a:endParaRPr lang="en-US" sz="950" dirty="0"/>
          </a:p>
        </p:txBody>
      </p:sp>
      <p:sp>
        <p:nvSpPr>
          <p:cNvPr id="11" name="Shape 7"/>
          <p:cNvSpPr/>
          <p:nvPr/>
        </p:nvSpPr>
        <p:spPr>
          <a:xfrm>
            <a:off x="4786313" y="1164431"/>
            <a:ext cx="4071938" cy="3693319"/>
          </a:xfrm>
          <a:prstGeom prst="rect">
            <a:avLst/>
          </a:prstGeom>
          <a:solidFill>
            <a:srgbClr val="111C3A"/>
          </a:solidFill>
          <a:ln/>
        </p:spPr>
      </p:sp>
      <p:pic>
        <p:nvPicPr>
          <p:cNvPr id="12" name="Image 1" descr="preencoded.png">    </p:cNvPr>
          <p:cNvPicPr>
            <a:picLocks noChangeAspect="1"/>
          </p:cNvPicPr>
          <p:nvPr/>
        </p:nvPicPr>
        <p:blipFill>
          <a:blip r:embed="rId2"/>
          <a:stretch>
            <a:fillRect/>
          </a:stretch>
        </p:blipFill>
        <p:spPr>
          <a:xfrm>
            <a:off x="5000625" y="1459111"/>
            <a:ext cx="3643313" cy="2857500"/>
          </a:xfrm>
          <a:prstGeom prst="rect">
            <a:avLst/>
          </a:prstGeom>
        </p:spPr>
      </p:pic>
      <p:sp>
        <p:nvSpPr>
          <p:cNvPr id="13" name="Text 8"/>
          <p:cNvSpPr/>
          <p:nvPr/>
        </p:nvSpPr>
        <p:spPr>
          <a:xfrm>
            <a:off x="5000625" y="4459486"/>
            <a:ext cx="3643313" cy="103584"/>
          </a:xfrm>
          <a:prstGeom prst="rect">
            <a:avLst/>
          </a:prstGeom>
          <a:noFill/>
          <a:ln/>
        </p:spPr>
        <p:txBody>
          <a:bodyPr wrap="square" lIns="0" tIns="0" rIns="0" bIns="0" rtlCol="0" anchor="t">
            <a:spAutoFit/>
          </a:bodyPr>
          <a:lstStyle/>
          <a:p>
            <a:pPr algn="ctr" indent="0" marL="0">
              <a:buNone/>
            </a:pPr>
            <a:r>
              <a:rPr lang="en-US" sz="600" dirty="0">
                <a:solidFill>
                  <a:srgbClr val="8D99AE"/>
                </a:solidFill>
                <a:latin typeface="Inter" pitchFamily="34" charset="0"/>
                <a:ea typeface="Inter" pitchFamily="34" charset="-122"/>
                <a:cs typeface="Inter" pitchFamily="34" charset="-120"/>
              </a:rPr>
              <a:t>Conceptual: Grid Reliability Risk vs. Maintenance Strategy Effectiveness</a:t>
            </a:r>
            <a:endParaRPr lang="en-US" sz="600" dirty="0"/>
          </a:p>
        </p:txBody>
      </p:sp>
      <p:sp>
        <p:nvSpPr>
          <p:cNvPr id="14" name="Text 9"/>
          <p:cNvSpPr/>
          <p:nvPr/>
        </p:nvSpPr>
        <p:spPr>
          <a:xfrm>
            <a:off x="8733234" y="4736306"/>
            <a:ext cx="125016"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A PREDICTABLE FAILURE STILL BECOMES AN OUTAGE</a:t>
            </a:r>
            <a:endParaRPr lang="en-US" sz="1600" dirty="0"/>
          </a:p>
        </p:txBody>
      </p:sp>
      <p:sp>
        <p:nvSpPr>
          <p:cNvPr id="5" name="Shape 1"/>
          <p:cNvSpPr/>
          <p:nvPr/>
        </p:nvSpPr>
        <p:spPr>
          <a:xfrm>
            <a:off x="285750" y="1307306"/>
            <a:ext cx="2714625" cy="3550444"/>
          </a:xfrm>
          <a:prstGeom prst="rect">
            <a:avLst/>
          </a:prstGeom>
          <a:solidFill>
            <a:srgbClr val="111C3A"/>
          </a:solidFill>
          <a:ln/>
        </p:spPr>
      </p:sp>
      <p:sp>
        <p:nvSpPr>
          <p:cNvPr id="6" name="Shape 2"/>
          <p:cNvSpPr/>
          <p:nvPr/>
        </p:nvSpPr>
        <p:spPr>
          <a:xfrm>
            <a:off x="285750" y="1307306"/>
            <a:ext cx="28575" cy="3550444"/>
          </a:xfrm>
          <a:prstGeom prst="rect">
            <a:avLst/>
          </a:prstGeom>
          <a:solidFill>
            <a:srgbClr val="FFB703"/>
          </a:solidFill>
          <a:ln/>
        </p:spPr>
      </p:sp>
      <p:sp>
        <p:nvSpPr>
          <p:cNvPr id="7" name="Text 3"/>
          <p:cNvSpPr/>
          <p:nvPr/>
        </p:nvSpPr>
        <p:spPr>
          <a:xfrm>
            <a:off x="571500" y="1593056"/>
            <a:ext cx="2143125" cy="217884"/>
          </a:xfrm>
          <a:prstGeom prst="rect">
            <a:avLst/>
          </a:prstGeom>
          <a:noFill/>
          <a:ln/>
        </p:spPr>
        <p:txBody>
          <a:bodyPr wrap="square" lIns="0" tIns="0" rIns="0" bIns="0" rtlCol="0" anchor="t">
            <a:spAutoFit/>
          </a:bodyPr>
          <a:lstStyle/>
          <a:p>
            <a:pPr algn="l" indent="0" marL="0">
              <a:buNone/>
            </a:pPr>
            <a:r>
              <a:rPr lang="en-US" sz="1200" b="1" dirty="0">
                <a:solidFill>
                  <a:srgbClr val="FFB703"/>
                </a:solidFill>
                <a:latin typeface="Space Grotesk Bold" pitchFamily="34" charset="0"/>
                <a:ea typeface="Space Grotesk Bold" pitchFamily="34" charset="-122"/>
                <a:cs typeface="Space Grotesk Bold" pitchFamily="34" charset="-120"/>
              </a:rPr>
              <a:t>BLIND MAINTENANCE</a:t>
            </a:r>
            <a:endParaRPr lang="en-US" sz="1200" dirty="0"/>
          </a:p>
        </p:txBody>
      </p:sp>
      <p:sp>
        <p:nvSpPr>
          <p:cNvPr id="8" name="Text 4"/>
          <p:cNvSpPr/>
          <p:nvPr/>
        </p:nvSpPr>
        <p:spPr>
          <a:xfrm>
            <a:off x="571500" y="1953816"/>
            <a:ext cx="2143125" cy="1028588"/>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Utilities treat a degrading transformer and a healthy one identically, relying on fixed schedules rather than actual condition.</a:t>
            </a:r>
            <a:endParaRPr lang="en-US" sz="950" dirty="0"/>
          </a:p>
        </p:txBody>
      </p:sp>
      <p:sp>
        <p:nvSpPr>
          <p:cNvPr id="9" name="Text 5"/>
          <p:cNvSpPr/>
          <p:nvPr/>
        </p:nvSpPr>
        <p:spPr>
          <a:xfrm>
            <a:off x="571500" y="4014788"/>
            <a:ext cx="2143125" cy="435769"/>
          </a:xfrm>
          <a:prstGeom prst="rect">
            <a:avLst/>
          </a:prstGeom>
          <a:noFill/>
          <a:ln/>
        </p:spPr>
        <p:txBody>
          <a:bodyPr wrap="square" lIns="0" tIns="0" rIns="0" bIns="0" rtlCol="0" anchor="t">
            <a:spAutoFit/>
          </a:bodyPr>
          <a:lstStyle/>
          <a:p>
            <a:pPr algn="l" indent="0" marL="0">
              <a:buNone/>
            </a:pPr>
            <a:r>
              <a:rPr lang="en-US" sz="2600" dirty="0">
                <a:solidFill>
                  <a:srgbClr val="F0F4F8"/>
                </a:solidFill>
                <a:latin typeface="Space Grotesk Bold" pitchFamily="34" charset="0"/>
                <a:ea typeface="Space Grotesk Bold" pitchFamily="34" charset="-122"/>
                <a:cs typeface="Space Grotesk Bold" pitchFamily="34" charset="-120"/>
              </a:rPr>
              <a:t>100%</a:t>
            </a:r>
            <a:endParaRPr lang="en-US" sz="2600" dirty="0"/>
          </a:p>
        </p:txBody>
      </p:sp>
      <p:sp>
        <p:nvSpPr>
          <p:cNvPr id="10" name="Text 6"/>
          <p:cNvSpPr/>
          <p:nvPr/>
        </p:nvSpPr>
        <p:spPr>
          <a:xfrm>
            <a:off x="571500" y="4450556"/>
            <a:ext cx="2143125" cy="121444"/>
          </a:xfrm>
          <a:prstGeom prst="rect">
            <a:avLst/>
          </a:prstGeom>
          <a:noFill/>
          <a:ln/>
        </p:spPr>
        <p:txBody>
          <a:bodyPr wrap="square" lIns="0" tIns="0" rIns="0" bIns="0" rtlCol="0" anchor="t">
            <a:spAutoFit/>
          </a:bodyPr>
          <a:lstStyle/>
          <a:p>
            <a:pPr algn="l" indent="0" marL="0">
              <a:buNone/>
            </a:pPr>
            <a:r>
              <a:rPr lang="en-US" sz="750" spc="1" kern="0" dirty="0">
                <a:solidFill>
                  <a:srgbClr val="8D99AE"/>
                </a:solidFill>
                <a:latin typeface="Inter" pitchFamily="34" charset="0"/>
                <a:ea typeface="Inter" pitchFamily="34" charset="-122"/>
                <a:cs typeface="Inter" pitchFamily="34" charset="-120"/>
              </a:rPr>
              <a:t>IDENTICAL TREATMENT</a:t>
            </a:r>
            <a:endParaRPr lang="en-US" sz="750" dirty="0"/>
          </a:p>
        </p:txBody>
      </p:sp>
      <p:sp>
        <p:nvSpPr>
          <p:cNvPr id="11" name="Shape 7"/>
          <p:cNvSpPr/>
          <p:nvPr/>
        </p:nvSpPr>
        <p:spPr>
          <a:xfrm>
            <a:off x="3214688" y="1307306"/>
            <a:ext cx="2714625" cy="3550444"/>
          </a:xfrm>
          <a:prstGeom prst="rect">
            <a:avLst/>
          </a:prstGeom>
          <a:solidFill>
            <a:srgbClr val="111C3A"/>
          </a:solidFill>
          <a:ln/>
        </p:spPr>
      </p:sp>
      <p:sp>
        <p:nvSpPr>
          <p:cNvPr id="12" name="Shape 8"/>
          <p:cNvSpPr/>
          <p:nvPr/>
        </p:nvSpPr>
        <p:spPr>
          <a:xfrm>
            <a:off x="3214688" y="1307306"/>
            <a:ext cx="28575" cy="3550444"/>
          </a:xfrm>
          <a:prstGeom prst="rect">
            <a:avLst/>
          </a:prstGeom>
          <a:solidFill>
            <a:srgbClr val="FFB703"/>
          </a:solidFill>
          <a:ln/>
        </p:spPr>
      </p:sp>
      <p:sp>
        <p:nvSpPr>
          <p:cNvPr id="13" name="Text 9"/>
          <p:cNvSpPr/>
          <p:nvPr/>
        </p:nvSpPr>
        <p:spPr>
          <a:xfrm>
            <a:off x="3500438" y="1593056"/>
            <a:ext cx="2143125" cy="217884"/>
          </a:xfrm>
          <a:prstGeom prst="rect">
            <a:avLst/>
          </a:prstGeom>
          <a:noFill/>
          <a:ln/>
        </p:spPr>
        <p:txBody>
          <a:bodyPr wrap="square" lIns="0" tIns="0" rIns="0" bIns="0" rtlCol="0" anchor="t">
            <a:spAutoFit/>
          </a:bodyPr>
          <a:lstStyle/>
          <a:p>
            <a:pPr algn="l" indent="0" marL="0">
              <a:buNone/>
            </a:pPr>
            <a:r>
              <a:rPr lang="en-US" sz="1200" b="1" dirty="0">
                <a:solidFill>
                  <a:srgbClr val="FFB703"/>
                </a:solidFill>
                <a:latin typeface="Space Grotesk Bold" pitchFamily="34" charset="0"/>
                <a:ea typeface="Space Grotesk Bold" pitchFamily="34" charset="-122"/>
                <a:cs typeface="Space Grotesk Bold" pitchFamily="34" charset="-120"/>
              </a:rPr>
              <a:t>DATA SILOS</a:t>
            </a:r>
            <a:endParaRPr lang="en-US" sz="1200" dirty="0"/>
          </a:p>
        </p:txBody>
      </p:sp>
      <p:sp>
        <p:nvSpPr>
          <p:cNvPr id="14" name="Text 10"/>
          <p:cNvSpPr/>
          <p:nvPr/>
        </p:nvSpPr>
        <p:spPr>
          <a:xfrm>
            <a:off x="3500438" y="1953816"/>
            <a:ext cx="2143125"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Telemetry streams into SCADA historians where it remains unread. The signals for failure are present but never synthesized.</a:t>
            </a:r>
            <a:endParaRPr lang="en-US" sz="950" dirty="0"/>
          </a:p>
        </p:txBody>
      </p:sp>
      <p:sp>
        <p:nvSpPr>
          <p:cNvPr id="15" name="Text 11"/>
          <p:cNvSpPr/>
          <p:nvPr/>
        </p:nvSpPr>
        <p:spPr>
          <a:xfrm>
            <a:off x="3500438" y="4014788"/>
            <a:ext cx="2143125" cy="435769"/>
          </a:xfrm>
          <a:prstGeom prst="rect">
            <a:avLst/>
          </a:prstGeom>
          <a:noFill/>
          <a:ln/>
        </p:spPr>
        <p:txBody>
          <a:bodyPr wrap="square" lIns="0" tIns="0" rIns="0" bIns="0" rtlCol="0" anchor="t">
            <a:spAutoFit/>
          </a:bodyPr>
          <a:lstStyle/>
          <a:p>
            <a:pPr algn="l" indent="0" marL="0">
              <a:buNone/>
            </a:pPr>
            <a:r>
              <a:rPr lang="en-US" sz="2600" dirty="0">
                <a:solidFill>
                  <a:srgbClr val="F0F4F8"/>
                </a:solidFill>
                <a:latin typeface="Space Grotesk Bold" pitchFamily="34" charset="0"/>
                <a:ea typeface="Space Grotesk Bold" pitchFamily="34" charset="-122"/>
                <a:cs typeface="Space Grotesk Bold" pitchFamily="34" charset="-120"/>
              </a:rPr>
              <a:t>0%</a:t>
            </a:r>
            <a:endParaRPr lang="en-US" sz="2600" dirty="0"/>
          </a:p>
        </p:txBody>
      </p:sp>
      <p:sp>
        <p:nvSpPr>
          <p:cNvPr id="16" name="Text 12"/>
          <p:cNvSpPr/>
          <p:nvPr/>
        </p:nvSpPr>
        <p:spPr>
          <a:xfrm>
            <a:off x="3500438" y="4450556"/>
            <a:ext cx="2143125" cy="121444"/>
          </a:xfrm>
          <a:prstGeom prst="rect">
            <a:avLst/>
          </a:prstGeom>
          <a:noFill/>
          <a:ln/>
        </p:spPr>
        <p:txBody>
          <a:bodyPr wrap="square" lIns="0" tIns="0" rIns="0" bIns="0" rtlCol="0" anchor="t">
            <a:spAutoFit/>
          </a:bodyPr>
          <a:lstStyle/>
          <a:p>
            <a:pPr algn="l" indent="0" marL="0">
              <a:buNone/>
            </a:pPr>
            <a:r>
              <a:rPr lang="en-US" sz="750" spc="1" kern="0" dirty="0">
                <a:solidFill>
                  <a:srgbClr val="8D99AE"/>
                </a:solidFill>
                <a:latin typeface="Inter" pitchFamily="34" charset="0"/>
                <a:ea typeface="Inter" pitchFamily="34" charset="-122"/>
                <a:cs typeface="Inter" pitchFamily="34" charset="-120"/>
              </a:rPr>
              <a:t>SIGNAL SYNTHESIS</a:t>
            </a:r>
            <a:endParaRPr lang="en-US" sz="750" dirty="0"/>
          </a:p>
        </p:txBody>
      </p:sp>
      <p:sp>
        <p:nvSpPr>
          <p:cNvPr id="17" name="Shape 13"/>
          <p:cNvSpPr/>
          <p:nvPr/>
        </p:nvSpPr>
        <p:spPr>
          <a:xfrm>
            <a:off x="6143625" y="1307306"/>
            <a:ext cx="2714625" cy="3550444"/>
          </a:xfrm>
          <a:prstGeom prst="rect">
            <a:avLst/>
          </a:prstGeom>
          <a:solidFill>
            <a:srgbClr val="111C3A"/>
          </a:solidFill>
          <a:ln/>
        </p:spPr>
      </p:sp>
      <p:sp>
        <p:nvSpPr>
          <p:cNvPr id="18" name="Shape 14"/>
          <p:cNvSpPr/>
          <p:nvPr/>
        </p:nvSpPr>
        <p:spPr>
          <a:xfrm>
            <a:off x="6143625" y="1307306"/>
            <a:ext cx="28575" cy="3550444"/>
          </a:xfrm>
          <a:prstGeom prst="rect">
            <a:avLst/>
          </a:prstGeom>
          <a:solidFill>
            <a:srgbClr val="FFB703"/>
          </a:solidFill>
          <a:ln/>
        </p:spPr>
      </p:sp>
      <p:sp>
        <p:nvSpPr>
          <p:cNvPr id="19" name="Text 15"/>
          <p:cNvSpPr/>
          <p:nvPr/>
        </p:nvSpPr>
        <p:spPr>
          <a:xfrm>
            <a:off x="6429375" y="1593056"/>
            <a:ext cx="2143125" cy="217884"/>
          </a:xfrm>
          <a:prstGeom prst="rect">
            <a:avLst/>
          </a:prstGeom>
          <a:noFill/>
          <a:ln/>
        </p:spPr>
        <p:txBody>
          <a:bodyPr wrap="square" lIns="0" tIns="0" rIns="0" bIns="0" rtlCol="0" anchor="t">
            <a:spAutoFit/>
          </a:bodyPr>
          <a:lstStyle/>
          <a:p>
            <a:pPr algn="l" indent="0" marL="0">
              <a:buNone/>
            </a:pPr>
            <a:r>
              <a:rPr lang="en-US" sz="1200" b="1" dirty="0">
                <a:solidFill>
                  <a:srgbClr val="FFB703"/>
                </a:solidFill>
                <a:latin typeface="Space Grotesk Bold" pitchFamily="34" charset="0"/>
                <a:ea typeface="Space Grotesk Bold" pitchFamily="34" charset="-122"/>
                <a:cs typeface="Space Grotesk Bold" pitchFamily="34" charset="-120"/>
              </a:rPr>
              <a:t>FINANCIAL EXPOSURE</a:t>
            </a:r>
            <a:endParaRPr lang="en-US" sz="1200" dirty="0"/>
          </a:p>
        </p:txBody>
      </p:sp>
      <p:sp>
        <p:nvSpPr>
          <p:cNvPr id="20" name="Text 16"/>
          <p:cNvSpPr/>
          <p:nvPr/>
        </p:nvSpPr>
        <p:spPr>
          <a:xfrm>
            <a:off x="6429375" y="1953816"/>
            <a:ext cx="2143125"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Unexpected critical asset failure costs utilities millions in lost revenue, emergency labor, and regulatory fines.</a:t>
            </a:r>
            <a:endParaRPr lang="en-US" sz="950" dirty="0"/>
          </a:p>
        </p:txBody>
      </p:sp>
      <p:sp>
        <p:nvSpPr>
          <p:cNvPr id="21" name="Text 17"/>
          <p:cNvSpPr/>
          <p:nvPr/>
        </p:nvSpPr>
        <p:spPr>
          <a:xfrm>
            <a:off x="6429375" y="4014788"/>
            <a:ext cx="2143125" cy="435769"/>
          </a:xfrm>
          <a:prstGeom prst="rect">
            <a:avLst/>
          </a:prstGeom>
          <a:noFill/>
          <a:ln/>
        </p:spPr>
        <p:txBody>
          <a:bodyPr wrap="square" lIns="0" tIns="0" rIns="0" bIns="0" rtlCol="0" anchor="t">
            <a:spAutoFit/>
          </a:bodyPr>
          <a:lstStyle/>
          <a:p>
            <a:pPr algn="l" indent="0" marL="0">
              <a:buNone/>
            </a:pPr>
            <a:r>
              <a:rPr lang="en-US" sz="2600" dirty="0">
                <a:solidFill>
                  <a:srgbClr val="F0F4F8"/>
                </a:solidFill>
                <a:latin typeface="Space Grotesk Bold" pitchFamily="34" charset="0"/>
                <a:ea typeface="Space Grotesk Bold" pitchFamily="34" charset="-122"/>
                <a:cs typeface="Space Grotesk Bold" pitchFamily="34" charset="-120"/>
              </a:rPr>
              <a:t>$1M+</a:t>
            </a:r>
            <a:endParaRPr lang="en-US" sz="2600" dirty="0"/>
          </a:p>
        </p:txBody>
      </p:sp>
      <p:sp>
        <p:nvSpPr>
          <p:cNvPr id="22" name="Text 18"/>
          <p:cNvSpPr/>
          <p:nvPr/>
        </p:nvSpPr>
        <p:spPr>
          <a:xfrm>
            <a:off x="6429375" y="4450556"/>
            <a:ext cx="2143125" cy="121444"/>
          </a:xfrm>
          <a:prstGeom prst="rect">
            <a:avLst/>
          </a:prstGeom>
          <a:noFill/>
          <a:ln/>
        </p:spPr>
        <p:txBody>
          <a:bodyPr wrap="square" lIns="0" tIns="0" rIns="0" bIns="0" rtlCol="0" anchor="t">
            <a:spAutoFit/>
          </a:bodyPr>
          <a:lstStyle/>
          <a:p>
            <a:pPr algn="l" indent="0" marL="0">
              <a:buNone/>
            </a:pPr>
            <a:r>
              <a:rPr lang="en-US" sz="750" spc="1" kern="0" dirty="0">
                <a:solidFill>
                  <a:srgbClr val="8D99AE"/>
                </a:solidFill>
                <a:latin typeface="Inter" pitchFamily="34" charset="0"/>
                <a:ea typeface="Inter" pitchFamily="34" charset="-122"/>
                <a:cs typeface="Inter" pitchFamily="34" charset="-120"/>
              </a:rPr>
              <a:t>COST PER HOUR</a:t>
            </a:r>
            <a:endParaRPr lang="en-US" sz="750" dirty="0"/>
          </a:p>
        </p:txBody>
      </p:sp>
      <p:sp>
        <p:nvSpPr>
          <p:cNvPr id="23" name="Text 19"/>
          <p:cNvSpPr/>
          <p:nvPr/>
        </p:nvSpPr>
        <p:spPr>
          <a:xfrm>
            <a:off x="8733234" y="4736306"/>
            <a:ext cx="125016"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FROM RAW TELEMETRY TO FIELD-READY ACTION</a:t>
            </a:r>
            <a:endParaRPr lang="en-US" sz="1600" dirty="0"/>
          </a:p>
        </p:txBody>
      </p:sp>
      <p:sp>
        <p:nvSpPr>
          <p:cNvPr id="5" name="Shape 1"/>
          <p:cNvSpPr/>
          <p:nvPr/>
        </p:nvSpPr>
        <p:spPr>
          <a:xfrm>
            <a:off x="285750" y="1943100"/>
            <a:ext cx="2035969" cy="1993106"/>
          </a:xfrm>
          <a:prstGeom prst="rect">
            <a:avLst/>
          </a:prstGeom>
          <a:solidFill>
            <a:srgbClr val="111C3A"/>
          </a:solidFill>
          <a:ln/>
        </p:spPr>
      </p:sp>
      <p:sp>
        <p:nvSpPr>
          <p:cNvPr id="6" name="Text 2"/>
          <p:cNvSpPr/>
          <p:nvPr/>
        </p:nvSpPr>
        <p:spPr>
          <a:xfrm>
            <a:off x="500063" y="2157413"/>
            <a:ext cx="1607344" cy="128588"/>
          </a:xfrm>
          <a:prstGeom prst="rect">
            <a:avLst/>
          </a:prstGeom>
          <a:noFill/>
          <a:ln/>
        </p:spPr>
        <p:txBody>
          <a:bodyPr wrap="square" lIns="0" tIns="0" rIns="0" bIns="0" rtlCol="0" anchor="t">
            <a:spAutoFit/>
          </a:bodyPr>
          <a:lstStyle/>
          <a:p>
            <a:pPr algn="l" indent="0" marL="0">
              <a:buNone/>
            </a:pPr>
            <a:r>
              <a:rPr lang="en-US" sz="750" spc="2" kern="0" dirty="0">
                <a:solidFill>
                  <a:srgbClr val="00E5FF"/>
                </a:solidFill>
                <a:latin typeface="Space Grotesk Bold" pitchFamily="34" charset="0"/>
                <a:ea typeface="Space Grotesk Bold" pitchFamily="34" charset="-122"/>
                <a:cs typeface="Space Grotesk Bold" pitchFamily="34" charset="-120"/>
              </a:rPr>
              <a:t>STAGE 01</a:t>
            </a:r>
            <a:endParaRPr lang="en-US" sz="750" dirty="0"/>
          </a:p>
        </p:txBody>
      </p:sp>
      <p:sp>
        <p:nvSpPr>
          <p:cNvPr id="7" name="Text 3"/>
          <p:cNvSpPr/>
          <p:nvPr/>
        </p:nvSpPr>
        <p:spPr>
          <a:xfrm>
            <a:off x="500063" y="2393156"/>
            <a:ext cx="1607344" cy="200025"/>
          </a:xfrm>
          <a:prstGeom prst="rect">
            <a:avLst/>
          </a:prstGeom>
          <a:noFill/>
          <a:ln/>
        </p:spPr>
        <p:txBody>
          <a:bodyPr wrap="square" lIns="0" tIns="0" rIns="0" bIns="0" rtlCol="0" anchor="t">
            <a:spAutoFit/>
          </a:bodyPr>
          <a:lstStyle/>
          <a:p>
            <a:pPr algn="l" indent="0" marL="0">
              <a:buNone/>
            </a:pPr>
            <a:r>
              <a:rPr lang="en-US" sz="1100" b="1" dirty="0">
                <a:solidFill>
                  <a:srgbClr val="F0F4F8"/>
                </a:solidFill>
                <a:latin typeface="Space Grotesk Bold" pitchFamily="34" charset="0"/>
                <a:ea typeface="Space Grotesk Bold" pitchFamily="34" charset="-122"/>
                <a:cs typeface="Space Grotesk Bold" pitchFamily="34" charset="-120"/>
              </a:rPr>
              <a:t>FUSE</a:t>
            </a:r>
            <a:endParaRPr lang="en-US" sz="1100" dirty="0"/>
          </a:p>
        </p:txBody>
      </p:sp>
      <p:sp>
        <p:nvSpPr>
          <p:cNvPr id="8" name="Text 4"/>
          <p:cNvSpPr/>
          <p:nvPr/>
        </p:nvSpPr>
        <p:spPr>
          <a:xfrm>
            <a:off x="500063" y="2736056"/>
            <a:ext cx="1607344" cy="6858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8D99AE"/>
                </a:solidFill>
                <a:latin typeface="Inter" pitchFamily="34" charset="0"/>
                <a:ea typeface="Inter" pitchFamily="34" charset="-122"/>
                <a:cs typeface="Inter" pitchFamily="34" charset="-120"/>
              </a:rPr>
              <a:t>Sensor telemetry, weather forecasts, and historical incident records joined in a single pipeline.</a:t>
            </a:r>
            <a:endParaRPr lang="en-US" sz="850" dirty="0"/>
          </a:p>
        </p:txBody>
      </p:sp>
      <p:sp>
        <p:nvSpPr>
          <p:cNvPr id="9" name="Text 5"/>
          <p:cNvSpPr/>
          <p:nvPr/>
        </p:nvSpPr>
        <p:spPr>
          <a:xfrm>
            <a:off x="500063" y="3450431"/>
            <a:ext cx="1607344" cy="271463"/>
          </a:xfrm>
          <a:prstGeom prst="rect">
            <a:avLst/>
          </a:prstGeom>
          <a:noFill/>
          <a:ln/>
        </p:spPr>
        <p:txBody>
          <a:bodyPr wrap="square" lIns="0" tIns="170053" rIns="0" bIns="0" rtlCol="0" anchor="t">
            <a:spAutoFit/>
          </a:bodyPr>
          <a:lstStyle/>
          <a:p>
            <a:pPr algn="l" indent="0" marL="0">
              <a:buNone/>
            </a:pPr>
            <a:r>
              <a:rPr lang="en-US" sz="700" b="1" dirty="0">
                <a:solidFill>
                  <a:srgbClr val="00E5FF"/>
                </a:solidFill>
                <a:latin typeface="Inter SemiBold" pitchFamily="34" charset="0"/>
                <a:ea typeface="Inter SemiBold" pitchFamily="34" charset="-122"/>
                <a:cs typeface="Inter SemiBold" pitchFamily="34" charset="-120"/>
              </a:rPr>
              <a:t>Neon Postgres</a:t>
            </a:r>
            <a:endParaRPr lang="en-US" sz="700" dirty="0"/>
          </a:p>
        </p:txBody>
      </p:sp>
      <p:sp>
        <p:nvSpPr>
          <p:cNvPr id="10" name="Shape 6"/>
          <p:cNvSpPr/>
          <p:nvPr/>
        </p:nvSpPr>
        <p:spPr>
          <a:xfrm>
            <a:off x="2464594" y="1943100"/>
            <a:ext cx="2035969" cy="1993106"/>
          </a:xfrm>
          <a:prstGeom prst="rect">
            <a:avLst/>
          </a:prstGeom>
          <a:solidFill>
            <a:srgbClr val="111C3A"/>
          </a:solidFill>
          <a:ln/>
        </p:spPr>
      </p:sp>
      <p:sp>
        <p:nvSpPr>
          <p:cNvPr id="11" name="Text 7"/>
          <p:cNvSpPr/>
          <p:nvPr/>
        </p:nvSpPr>
        <p:spPr>
          <a:xfrm>
            <a:off x="2678906" y="2157413"/>
            <a:ext cx="1607344" cy="128588"/>
          </a:xfrm>
          <a:prstGeom prst="rect">
            <a:avLst/>
          </a:prstGeom>
          <a:noFill/>
          <a:ln/>
        </p:spPr>
        <p:txBody>
          <a:bodyPr wrap="square" lIns="0" tIns="0" rIns="0" bIns="0" rtlCol="0" anchor="t">
            <a:spAutoFit/>
          </a:bodyPr>
          <a:lstStyle/>
          <a:p>
            <a:pPr algn="l" indent="0" marL="0">
              <a:buNone/>
            </a:pPr>
            <a:r>
              <a:rPr lang="en-US" sz="750" spc="2" kern="0" dirty="0">
                <a:solidFill>
                  <a:srgbClr val="00E5FF"/>
                </a:solidFill>
                <a:latin typeface="Space Grotesk Bold" pitchFamily="34" charset="0"/>
                <a:ea typeface="Space Grotesk Bold" pitchFamily="34" charset="-122"/>
                <a:cs typeface="Space Grotesk Bold" pitchFamily="34" charset="-120"/>
              </a:rPr>
              <a:t>STAGE 02</a:t>
            </a:r>
            <a:endParaRPr lang="en-US" sz="750" dirty="0"/>
          </a:p>
        </p:txBody>
      </p:sp>
      <p:sp>
        <p:nvSpPr>
          <p:cNvPr id="12" name="Text 8"/>
          <p:cNvSpPr/>
          <p:nvPr/>
        </p:nvSpPr>
        <p:spPr>
          <a:xfrm>
            <a:off x="2678906" y="2393156"/>
            <a:ext cx="1607344" cy="200025"/>
          </a:xfrm>
          <a:prstGeom prst="rect">
            <a:avLst/>
          </a:prstGeom>
          <a:noFill/>
          <a:ln/>
        </p:spPr>
        <p:txBody>
          <a:bodyPr wrap="square" lIns="0" tIns="0" rIns="0" bIns="0" rtlCol="0" anchor="t">
            <a:spAutoFit/>
          </a:bodyPr>
          <a:lstStyle/>
          <a:p>
            <a:pPr algn="l" indent="0" marL="0">
              <a:buNone/>
            </a:pPr>
            <a:r>
              <a:rPr lang="en-US" sz="1100" b="1" dirty="0">
                <a:solidFill>
                  <a:srgbClr val="F0F4F8"/>
                </a:solidFill>
                <a:latin typeface="Space Grotesk Bold" pitchFamily="34" charset="0"/>
                <a:ea typeface="Space Grotesk Bold" pitchFamily="34" charset="-122"/>
                <a:cs typeface="Space Grotesk Bold" pitchFamily="34" charset="-120"/>
              </a:rPr>
              <a:t>PREDICT</a:t>
            </a:r>
            <a:endParaRPr lang="en-US" sz="1100" dirty="0"/>
          </a:p>
        </p:txBody>
      </p:sp>
      <p:sp>
        <p:nvSpPr>
          <p:cNvPr id="13" name="Text 9"/>
          <p:cNvSpPr/>
          <p:nvPr/>
        </p:nvSpPr>
        <p:spPr>
          <a:xfrm>
            <a:off x="2678906" y="2736056"/>
            <a:ext cx="1607344" cy="6858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8D99AE"/>
                </a:solidFill>
                <a:latin typeface="Inter" pitchFamily="34" charset="0"/>
                <a:ea typeface="Inter" pitchFamily="34" charset="-122"/>
                <a:cs typeface="Inter" pitchFamily="34" charset="-120"/>
              </a:rPr>
              <a:t>Rolling feature window feeds an XGBoost classifier to output failure probability per asset.</a:t>
            </a:r>
            <a:endParaRPr lang="en-US" sz="850" dirty="0"/>
          </a:p>
        </p:txBody>
      </p:sp>
      <p:sp>
        <p:nvSpPr>
          <p:cNvPr id="14" name="Text 10"/>
          <p:cNvSpPr/>
          <p:nvPr/>
        </p:nvSpPr>
        <p:spPr>
          <a:xfrm>
            <a:off x="2678906" y="3450431"/>
            <a:ext cx="1607344" cy="271463"/>
          </a:xfrm>
          <a:prstGeom prst="rect">
            <a:avLst/>
          </a:prstGeom>
          <a:noFill/>
          <a:ln/>
        </p:spPr>
        <p:txBody>
          <a:bodyPr wrap="square" lIns="0" tIns="170053" rIns="0" bIns="0" rtlCol="0" anchor="t">
            <a:spAutoFit/>
          </a:bodyPr>
          <a:lstStyle/>
          <a:p>
            <a:pPr algn="l" indent="0" marL="0">
              <a:buNone/>
            </a:pPr>
            <a:r>
              <a:rPr lang="en-US" sz="700" b="1" dirty="0">
                <a:solidFill>
                  <a:srgbClr val="00E5FF"/>
                </a:solidFill>
                <a:latin typeface="Inter SemiBold" pitchFamily="34" charset="0"/>
                <a:ea typeface="Inter SemiBold" pitchFamily="34" charset="-122"/>
                <a:cs typeface="Inter SemiBold" pitchFamily="34" charset="-120"/>
              </a:rPr>
              <a:t>XGBoost + SHAP</a:t>
            </a:r>
            <a:endParaRPr lang="en-US" sz="700" dirty="0"/>
          </a:p>
        </p:txBody>
      </p:sp>
      <p:sp>
        <p:nvSpPr>
          <p:cNvPr id="15" name="Shape 11"/>
          <p:cNvSpPr/>
          <p:nvPr/>
        </p:nvSpPr>
        <p:spPr>
          <a:xfrm>
            <a:off x="4643438" y="1943100"/>
            <a:ext cx="2035969" cy="1993106"/>
          </a:xfrm>
          <a:prstGeom prst="rect">
            <a:avLst/>
          </a:prstGeom>
          <a:solidFill>
            <a:srgbClr val="111C3A"/>
          </a:solidFill>
          <a:ln/>
        </p:spPr>
      </p:sp>
      <p:sp>
        <p:nvSpPr>
          <p:cNvPr id="16" name="Text 12"/>
          <p:cNvSpPr/>
          <p:nvPr/>
        </p:nvSpPr>
        <p:spPr>
          <a:xfrm>
            <a:off x="4857750" y="2157413"/>
            <a:ext cx="1607344" cy="128588"/>
          </a:xfrm>
          <a:prstGeom prst="rect">
            <a:avLst/>
          </a:prstGeom>
          <a:noFill/>
          <a:ln/>
        </p:spPr>
        <p:txBody>
          <a:bodyPr wrap="square" lIns="0" tIns="0" rIns="0" bIns="0" rtlCol="0" anchor="t">
            <a:spAutoFit/>
          </a:bodyPr>
          <a:lstStyle/>
          <a:p>
            <a:pPr algn="l" indent="0" marL="0">
              <a:buNone/>
            </a:pPr>
            <a:r>
              <a:rPr lang="en-US" sz="750" spc="2" kern="0" dirty="0">
                <a:solidFill>
                  <a:srgbClr val="00E5FF"/>
                </a:solidFill>
                <a:latin typeface="Space Grotesk Bold" pitchFamily="34" charset="0"/>
                <a:ea typeface="Space Grotesk Bold" pitchFamily="34" charset="-122"/>
                <a:cs typeface="Space Grotesk Bold" pitchFamily="34" charset="-120"/>
              </a:rPr>
              <a:t>STAGE 03</a:t>
            </a:r>
            <a:endParaRPr lang="en-US" sz="750" dirty="0"/>
          </a:p>
        </p:txBody>
      </p:sp>
      <p:sp>
        <p:nvSpPr>
          <p:cNvPr id="17" name="Text 13"/>
          <p:cNvSpPr/>
          <p:nvPr/>
        </p:nvSpPr>
        <p:spPr>
          <a:xfrm>
            <a:off x="4857750" y="2393156"/>
            <a:ext cx="1607344" cy="200025"/>
          </a:xfrm>
          <a:prstGeom prst="rect">
            <a:avLst/>
          </a:prstGeom>
          <a:noFill/>
          <a:ln/>
        </p:spPr>
        <p:txBody>
          <a:bodyPr wrap="square" lIns="0" tIns="0" rIns="0" bIns="0" rtlCol="0" anchor="t">
            <a:spAutoFit/>
          </a:bodyPr>
          <a:lstStyle/>
          <a:p>
            <a:pPr algn="l" indent="0" marL="0">
              <a:buNone/>
            </a:pPr>
            <a:r>
              <a:rPr lang="en-US" sz="1100" b="1" dirty="0">
                <a:solidFill>
                  <a:srgbClr val="F0F4F8"/>
                </a:solidFill>
                <a:latin typeface="Space Grotesk Bold" pitchFamily="34" charset="0"/>
                <a:ea typeface="Space Grotesk Bold" pitchFamily="34" charset="-122"/>
                <a:cs typeface="Space Grotesk Bold" pitchFamily="34" charset="-120"/>
              </a:rPr>
              <a:t>RANK</a:t>
            </a:r>
            <a:endParaRPr lang="en-US" sz="1100" dirty="0"/>
          </a:p>
        </p:txBody>
      </p:sp>
      <p:sp>
        <p:nvSpPr>
          <p:cNvPr id="18" name="Text 14"/>
          <p:cNvSpPr/>
          <p:nvPr/>
        </p:nvSpPr>
        <p:spPr>
          <a:xfrm>
            <a:off x="4857750" y="2736056"/>
            <a:ext cx="1607344" cy="6858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8D99AE"/>
                </a:solidFill>
                <a:latin typeface="Inter" pitchFamily="34" charset="0"/>
                <a:ea typeface="Inter" pitchFamily="34" charset="-122"/>
                <a:cs typeface="Inter" pitchFamily="34" charset="-120"/>
              </a:rPr>
              <a:t>Assets scored by grid-impact severity: probability × customers served × criticality tier.</a:t>
            </a:r>
            <a:endParaRPr lang="en-US" sz="850" dirty="0"/>
          </a:p>
        </p:txBody>
      </p:sp>
      <p:sp>
        <p:nvSpPr>
          <p:cNvPr id="19" name="Text 15"/>
          <p:cNvSpPr/>
          <p:nvPr/>
        </p:nvSpPr>
        <p:spPr>
          <a:xfrm>
            <a:off x="4857750" y="3450431"/>
            <a:ext cx="1607344" cy="271463"/>
          </a:xfrm>
          <a:prstGeom prst="rect">
            <a:avLst/>
          </a:prstGeom>
          <a:noFill/>
          <a:ln/>
        </p:spPr>
        <p:txBody>
          <a:bodyPr wrap="square" lIns="0" tIns="170053" rIns="0" bIns="0" rtlCol="0" anchor="t">
            <a:spAutoFit/>
          </a:bodyPr>
          <a:lstStyle/>
          <a:p>
            <a:pPr algn="l" indent="0" marL="0">
              <a:buNone/>
            </a:pPr>
            <a:r>
              <a:rPr lang="en-US" sz="700" b="1" dirty="0">
                <a:solidFill>
                  <a:srgbClr val="00E5FF"/>
                </a:solidFill>
                <a:latin typeface="Inter SemiBold" pitchFamily="34" charset="0"/>
                <a:ea typeface="Inter SemiBold" pitchFamily="34" charset="-122"/>
                <a:cs typeface="Inter SemiBold" pitchFamily="34" charset="-120"/>
              </a:rPr>
              <a:t>Severity Engine</a:t>
            </a:r>
            <a:endParaRPr lang="en-US" sz="700" dirty="0"/>
          </a:p>
        </p:txBody>
      </p:sp>
      <p:sp>
        <p:nvSpPr>
          <p:cNvPr id="20" name="Shape 16"/>
          <p:cNvSpPr/>
          <p:nvPr/>
        </p:nvSpPr>
        <p:spPr>
          <a:xfrm>
            <a:off x="6822281" y="1943100"/>
            <a:ext cx="2035969" cy="1993106"/>
          </a:xfrm>
          <a:prstGeom prst="rect">
            <a:avLst/>
          </a:prstGeom>
          <a:solidFill>
            <a:srgbClr val="111C3A"/>
          </a:solidFill>
          <a:ln w="18288">
            <a:solidFill>
              <a:srgbClr val="FFB703"/>
            </a:solidFill>
            <a:prstDash val="solid"/>
          </a:ln>
        </p:spPr>
      </p:sp>
      <p:sp>
        <p:nvSpPr>
          <p:cNvPr id="21" name="Text 17"/>
          <p:cNvSpPr/>
          <p:nvPr/>
        </p:nvSpPr>
        <p:spPr>
          <a:xfrm>
            <a:off x="7036594" y="2171700"/>
            <a:ext cx="1607344" cy="128588"/>
          </a:xfrm>
          <a:prstGeom prst="rect">
            <a:avLst/>
          </a:prstGeom>
          <a:noFill/>
          <a:ln/>
        </p:spPr>
        <p:txBody>
          <a:bodyPr wrap="square" lIns="0" tIns="0" rIns="0" bIns="0" rtlCol="0" anchor="t">
            <a:spAutoFit/>
          </a:bodyPr>
          <a:lstStyle/>
          <a:p>
            <a:pPr algn="l" indent="0" marL="0">
              <a:buNone/>
            </a:pPr>
            <a:r>
              <a:rPr lang="en-US" sz="750" spc="2" kern="0" dirty="0">
                <a:solidFill>
                  <a:srgbClr val="FFB703"/>
                </a:solidFill>
                <a:latin typeface="Space Grotesk Bold" pitchFamily="34" charset="0"/>
                <a:ea typeface="Space Grotesk Bold" pitchFamily="34" charset="-122"/>
                <a:cs typeface="Space Grotesk Bold" pitchFamily="34" charset="-120"/>
              </a:rPr>
              <a:t>STAGE 04</a:t>
            </a:r>
            <a:endParaRPr lang="en-US" sz="750" dirty="0"/>
          </a:p>
        </p:txBody>
      </p:sp>
      <p:sp>
        <p:nvSpPr>
          <p:cNvPr id="22" name="Text 18"/>
          <p:cNvSpPr/>
          <p:nvPr/>
        </p:nvSpPr>
        <p:spPr>
          <a:xfrm>
            <a:off x="7036594" y="2407444"/>
            <a:ext cx="1607344" cy="200025"/>
          </a:xfrm>
          <a:prstGeom prst="rect">
            <a:avLst/>
          </a:prstGeom>
          <a:noFill/>
          <a:ln/>
        </p:spPr>
        <p:txBody>
          <a:bodyPr wrap="square" lIns="0" tIns="0" rIns="0" bIns="0" rtlCol="0" anchor="t">
            <a:spAutoFit/>
          </a:bodyPr>
          <a:lstStyle/>
          <a:p>
            <a:pPr algn="l" indent="0" marL="0">
              <a:buNone/>
            </a:pPr>
            <a:r>
              <a:rPr lang="en-US" sz="1100" b="1" dirty="0">
                <a:solidFill>
                  <a:srgbClr val="F0F4F8"/>
                </a:solidFill>
                <a:latin typeface="Space Grotesk Bold" pitchFamily="34" charset="0"/>
                <a:ea typeface="Space Grotesk Bold" pitchFamily="34" charset="-122"/>
                <a:cs typeface="Space Grotesk Bold" pitchFamily="34" charset="-120"/>
              </a:rPr>
              <a:t>ACT</a:t>
            </a:r>
            <a:endParaRPr lang="en-US" sz="1100" dirty="0"/>
          </a:p>
        </p:txBody>
      </p:sp>
      <p:sp>
        <p:nvSpPr>
          <p:cNvPr id="23" name="Text 19"/>
          <p:cNvSpPr/>
          <p:nvPr/>
        </p:nvSpPr>
        <p:spPr>
          <a:xfrm>
            <a:off x="7036594" y="2750344"/>
            <a:ext cx="1607344" cy="6858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8D99AE"/>
                </a:solidFill>
                <a:latin typeface="Inter" pitchFamily="34" charset="0"/>
                <a:ea typeface="Inter" pitchFamily="34" charset="-122"/>
                <a:cs typeface="Inter" pitchFamily="34" charset="-120"/>
              </a:rPr>
              <a:t>IBM Bob synthesizes ranked data into a prioritized, plain-English maintenance and dispatch plan.</a:t>
            </a:r>
            <a:endParaRPr lang="en-US" sz="850" dirty="0"/>
          </a:p>
        </p:txBody>
      </p:sp>
      <p:sp>
        <p:nvSpPr>
          <p:cNvPr id="24" name="Text 20"/>
          <p:cNvSpPr/>
          <p:nvPr/>
        </p:nvSpPr>
        <p:spPr>
          <a:xfrm>
            <a:off x="7036594" y="3436144"/>
            <a:ext cx="1607344" cy="271463"/>
          </a:xfrm>
          <a:prstGeom prst="rect">
            <a:avLst/>
          </a:prstGeom>
          <a:noFill/>
          <a:ln/>
        </p:spPr>
        <p:txBody>
          <a:bodyPr wrap="square" lIns="0" tIns="170053" rIns="0" bIns="0" rtlCol="0" anchor="t">
            <a:spAutoFit/>
          </a:bodyPr>
          <a:lstStyle/>
          <a:p>
            <a:pPr algn="l" indent="0" marL="0">
              <a:buNone/>
            </a:pPr>
            <a:r>
              <a:rPr lang="en-US" sz="700" b="1" dirty="0">
                <a:solidFill>
                  <a:srgbClr val="FFB703"/>
                </a:solidFill>
                <a:latin typeface="Inter SemiBold" pitchFamily="34" charset="0"/>
                <a:ea typeface="Inter SemiBold" pitchFamily="34" charset="-122"/>
                <a:cs typeface="Inter SemiBold" pitchFamily="34" charset="-120"/>
              </a:rPr>
              <a:t>IBM Bob / watsonx.ai</a:t>
            </a:r>
            <a:endParaRPr lang="en-US" sz="700" dirty="0"/>
          </a:p>
        </p:txBody>
      </p:sp>
      <p:sp>
        <p:nvSpPr>
          <p:cNvPr id="25" name="Text 21"/>
          <p:cNvSpPr/>
          <p:nvPr/>
        </p:nvSpPr>
        <p:spPr>
          <a:xfrm>
            <a:off x="8729663" y="4736306"/>
            <a:ext cx="128588"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ONE PIPELINE, THREE OPERATOR VIEWS</a:t>
            </a:r>
            <a:endParaRPr lang="en-US" sz="1600" dirty="0"/>
          </a:p>
        </p:txBody>
      </p:sp>
      <p:sp>
        <p:nvSpPr>
          <p:cNvPr id="5" name="Shape 1"/>
          <p:cNvSpPr/>
          <p:nvPr/>
        </p:nvSpPr>
        <p:spPr>
          <a:xfrm>
            <a:off x="285750" y="1153716"/>
            <a:ext cx="2714625" cy="1678781"/>
          </a:xfrm>
          <a:prstGeom prst="rect">
            <a:avLst/>
          </a:prstGeom>
          <a:solidFill>
            <a:srgbClr val="111C3A"/>
          </a:solidFill>
          <a:ln w="9144">
            <a:solidFill>
              <a:srgbClr val="1B2A4E"/>
            </a:solidFill>
            <a:prstDash val="solid"/>
          </a:ln>
        </p:spPr>
      </p:sp>
      <p:sp>
        <p:nvSpPr>
          <p:cNvPr id="6" name="Text 2"/>
          <p:cNvSpPr/>
          <p:nvPr/>
        </p:nvSpPr>
        <p:spPr>
          <a:xfrm>
            <a:off x="464344" y="1635249"/>
            <a:ext cx="2357438" cy="110728"/>
          </a:xfrm>
          <a:prstGeom prst="rect">
            <a:avLst/>
          </a:prstGeom>
          <a:noFill/>
          <a:ln/>
        </p:spPr>
        <p:txBody>
          <a:bodyPr wrap="square" lIns="0" tIns="0" rIns="0" bIns="0" rtlCol="0" anchor="t">
            <a:spAutoFit/>
          </a:bodyPr>
          <a:lstStyle/>
          <a:p>
            <a:pPr algn="l"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DATA INGESTION</a:t>
            </a:r>
            <a:endParaRPr lang="en-US" sz="600" dirty="0"/>
          </a:p>
        </p:txBody>
      </p:sp>
      <p:sp>
        <p:nvSpPr>
          <p:cNvPr id="7" name="Text 3"/>
          <p:cNvSpPr/>
          <p:nvPr/>
        </p:nvSpPr>
        <p:spPr>
          <a:xfrm>
            <a:off x="464344" y="1817415"/>
            <a:ext cx="23574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Neon Postgres</a:t>
            </a:r>
            <a:endParaRPr lang="en-US" sz="1000" dirty="0"/>
          </a:p>
        </p:txBody>
      </p:sp>
      <p:sp>
        <p:nvSpPr>
          <p:cNvPr id="8" name="Text 4"/>
          <p:cNvSpPr/>
          <p:nvPr/>
        </p:nvSpPr>
        <p:spPr>
          <a:xfrm>
            <a:off x="464344" y="2071018"/>
            <a:ext cx="235743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0F4F8"/>
                </a:solidFill>
                <a:latin typeface="Inter" pitchFamily="34" charset="0"/>
                <a:ea typeface="Inter" pitchFamily="34" charset="-122"/>
                <a:cs typeface="Inter" pitchFamily="34" charset="-120"/>
              </a:rPr>
              <a:t>Fusing sensor telemetry, weather, and incident records.</a:t>
            </a:r>
            <a:endParaRPr lang="en-US" sz="750" dirty="0"/>
          </a:p>
        </p:txBody>
      </p:sp>
      <p:sp>
        <p:nvSpPr>
          <p:cNvPr id="9" name="Shape 5"/>
          <p:cNvSpPr/>
          <p:nvPr/>
        </p:nvSpPr>
        <p:spPr>
          <a:xfrm>
            <a:off x="3214688" y="1153716"/>
            <a:ext cx="2714625" cy="1678781"/>
          </a:xfrm>
          <a:prstGeom prst="rect">
            <a:avLst/>
          </a:prstGeom>
          <a:solidFill>
            <a:srgbClr val="111C3A"/>
          </a:solidFill>
          <a:ln w="9144">
            <a:solidFill>
              <a:srgbClr val="1B2A4E"/>
            </a:solidFill>
            <a:prstDash val="solid"/>
          </a:ln>
        </p:spPr>
      </p:sp>
      <p:sp>
        <p:nvSpPr>
          <p:cNvPr id="10" name="Text 6"/>
          <p:cNvSpPr/>
          <p:nvPr/>
        </p:nvSpPr>
        <p:spPr>
          <a:xfrm>
            <a:off x="3393281" y="1635249"/>
            <a:ext cx="2357438" cy="110728"/>
          </a:xfrm>
          <a:prstGeom prst="rect">
            <a:avLst/>
          </a:prstGeom>
          <a:noFill/>
          <a:ln/>
        </p:spPr>
        <p:txBody>
          <a:bodyPr wrap="square" lIns="0" tIns="0" rIns="0" bIns="0" rtlCol="0" anchor="t">
            <a:spAutoFit/>
          </a:bodyPr>
          <a:lstStyle/>
          <a:p>
            <a:pPr algn="l"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ML ENGINE</a:t>
            </a:r>
            <a:endParaRPr lang="en-US" sz="600" dirty="0"/>
          </a:p>
        </p:txBody>
      </p:sp>
      <p:sp>
        <p:nvSpPr>
          <p:cNvPr id="11" name="Text 7"/>
          <p:cNvSpPr/>
          <p:nvPr/>
        </p:nvSpPr>
        <p:spPr>
          <a:xfrm>
            <a:off x="3393281" y="1817415"/>
            <a:ext cx="23574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XGBoost Scoring</a:t>
            </a:r>
            <a:endParaRPr lang="en-US" sz="1000" dirty="0"/>
          </a:p>
        </p:txBody>
      </p:sp>
      <p:sp>
        <p:nvSpPr>
          <p:cNvPr id="12" name="Text 8"/>
          <p:cNvSpPr/>
          <p:nvPr/>
        </p:nvSpPr>
        <p:spPr>
          <a:xfrm>
            <a:off x="3393281" y="2071018"/>
            <a:ext cx="235743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0F4F8"/>
                </a:solidFill>
                <a:latin typeface="Inter" pitchFamily="34" charset="0"/>
                <a:ea typeface="Inter" pitchFamily="34" charset="-122"/>
                <a:cs typeface="Inter" pitchFamily="34" charset="-120"/>
              </a:rPr>
              <a:t>Feature engineering and failure probability classification.</a:t>
            </a:r>
            <a:endParaRPr lang="en-US" sz="750" dirty="0"/>
          </a:p>
        </p:txBody>
      </p:sp>
      <p:sp>
        <p:nvSpPr>
          <p:cNvPr id="13" name="Shape 9"/>
          <p:cNvSpPr/>
          <p:nvPr/>
        </p:nvSpPr>
        <p:spPr>
          <a:xfrm>
            <a:off x="6143625" y="1153716"/>
            <a:ext cx="2714625" cy="1678781"/>
          </a:xfrm>
          <a:prstGeom prst="rect">
            <a:avLst/>
          </a:prstGeom>
          <a:solidFill>
            <a:srgbClr val="111C3A"/>
          </a:solidFill>
          <a:ln w="18288">
            <a:solidFill>
              <a:srgbClr val="FFB703"/>
            </a:solidFill>
            <a:prstDash val="solid"/>
          </a:ln>
        </p:spPr>
      </p:sp>
      <p:sp>
        <p:nvSpPr>
          <p:cNvPr id="14" name="Text 10"/>
          <p:cNvSpPr/>
          <p:nvPr/>
        </p:nvSpPr>
        <p:spPr>
          <a:xfrm>
            <a:off x="6322219" y="1635249"/>
            <a:ext cx="2357438" cy="110728"/>
          </a:xfrm>
          <a:prstGeom prst="rect">
            <a:avLst/>
          </a:prstGeom>
          <a:noFill/>
          <a:ln/>
        </p:spPr>
        <p:txBody>
          <a:bodyPr wrap="square" lIns="0" tIns="0" rIns="0" bIns="0" rtlCol="0" anchor="t">
            <a:spAutoFit/>
          </a:bodyPr>
          <a:lstStyle/>
          <a:p>
            <a:pPr algn="l"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OPERATIONAL LOGIC</a:t>
            </a:r>
            <a:endParaRPr lang="en-US" sz="600" dirty="0"/>
          </a:p>
        </p:txBody>
      </p:sp>
      <p:sp>
        <p:nvSpPr>
          <p:cNvPr id="15" name="Text 11"/>
          <p:cNvSpPr/>
          <p:nvPr/>
        </p:nvSpPr>
        <p:spPr>
          <a:xfrm>
            <a:off x="6322219" y="1817415"/>
            <a:ext cx="2357438" cy="182166"/>
          </a:xfrm>
          <a:prstGeom prst="rect">
            <a:avLst/>
          </a:prstGeom>
          <a:noFill/>
          <a:ln/>
        </p:spPr>
        <p:txBody>
          <a:bodyPr wrap="square" lIns="0" tIns="0" rIns="0" bIns="0" rtlCol="0" anchor="t">
            <a:spAutoFit/>
          </a:bodyPr>
          <a:lstStyle/>
          <a:p>
            <a:pPr algn="l" indent="0" marL="0">
              <a:buNone/>
            </a:pPr>
            <a:r>
              <a:rPr lang="en-US" sz="1000" b="1" dirty="0">
                <a:solidFill>
                  <a:srgbClr val="FFB703"/>
                </a:solidFill>
                <a:latin typeface="Space Grotesk Bold" pitchFamily="34" charset="0"/>
                <a:ea typeface="Space Grotesk Bold" pitchFamily="34" charset="-122"/>
                <a:cs typeface="Space Grotesk Bold" pitchFamily="34" charset="-120"/>
              </a:rPr>
              <a:t>Severity Ranker</a:t>
            </a:r>
            <a:endParaRPr lang="en-US" sz="1000" dirty="0"/>
          </a:p>
        </p:txBody>
      </p:sp>
      <p:sp>
        <p:nvSpPr>
          <p:cNvPr id="16" name="Text 12"/>
          <p:cNvSpPr/>
          <p:nvPr/>
        </p:nvSpPr>
        <p:spPr>
          <a:xfrm>
            <a:off x="6322219" y="2071018"/>
            <a:ext cx="235743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0F4F8"/>
                </a:solidFill>
                <a:latin typeface="Inter" pitchFamily="34" charset="0"/>
                <a:ea typeface="Inter" pitchFamily="34" charset="-122"/>
                <a:cs typeface="Inter" pitchFamily="34" charset="-120"/>
              </a:rPr>
              <a:t>The bridge between ML output and operational reality.</a:t>
            </a:r>
            <a:endParaRPr lang="en-US" sz="750" dirty="0"/>
          </a:p>
        </p:txBody>
      </p:sp>
      <p:sp>
        <p:nvSpPr>
          <p:cNvPr id="17" name="Shape 13"/>
          <p:cNvSpPr/>
          <p:nvPr/>
        </p:nvSpPr>
        <p:spPr>
          <a:xfrm>
            <a:off x="285750" y="3046809"/>
            <a:ext cx="2714625" cy="1678781"/>
          </a:xfrm>
          <a:prstGeom prst="rect">
            <a:avLst/>
          </a:prstGeom>
          <a:solidFill>
            <a:srgbClr val="111C3A"/>
          </a:solidFill>
          <a:ln w="9144">
            <a:solidFill>
              <a:srgbClr val="1B2A4E"/>
            </a:solidFill>
            <a:prstDash val="solid"/>
          </a:ln>
        </p:spPr>
      </p:sp>
      <p:sp>
        <p:nvSpPr>
          <p:cNvPr id="18" name="Text 14"/>
          <p:cNvSpPr/>
          <p:nvPr/>
        </p:nvSpPr>
        <p:spPr>
          <a:xfrm>
            <a:off x="464344" y="3528343"/>
            <a:ext cx="2357438" cy="110728"/>
          </a:xfrm>
          <a:prstGeom prst="rect">
            <a:avLst/>
          </a:prstGeom>
          <a:noFill/>
          <a:ln/>
        </p:spPr>
        <p:txBody>
          <a:bodyPr wrap="square" lIns="0" tIns="0" rIns="0" bIns="0" rtlCol="0" anchor="t">
            <a:spAutoFit/>
          </a:bodyPr>
          <a:lstStyle/>
          <a:p>
            <a:pPr algn="l"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INTERFACE</a:t>
            </a:r>
            <a:endParaRPr lang="en-US" sz="600" dirty="0"/>
          </a:p>
        </p:txBody>
      </p:sp>
      <p:sp>
        <p:nvSpPr>
          <p:cNvPr id="19" name="Text 15"/>
          <p:cNvSpPr/>
          <p:nvPr/>
        </p:nvSpPr>
        <p:spPr>
          <a:xfrm>
            <a:off x="464344" y="3710508"/>
            <a:ext cx="23574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Streamlit Dashboard</a:t>
            </a:r>
            <a:endParaRPr lang="en-US" sz="1000" dirty="0"/>
          </a:p>
        </p:txBody>
      </p:sp>
      <p:sp>
        <p:nvSpPr>
          <p:cNvPr id="20" name="Text 16"/>
          <p:cNvSpPr/>
          <p:nvPr/>
        </p:nvSpPr>
        <p:spPr>
          <a:xfrm>
            <a:off x="464344" y="3964112"/>
            <a:ext cx="235743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0F4F8"/>
                </a:solidFill>
                <a:latin typeface="Inter" pitchFamily="34" charset="0"/>
                <a:ea typeface="Inter" pitchFamily="34" charset="-122"/>
                <a:cs typeface="Inter" pitchFamily="34" charset="-120"/>
              </a:rPr>
              <a:t>Risk map, ranked table, and maintenance plan views.</a:t>
            </a:r>
            <a:endParaRPr lang="en-US" sz="750" dirty="0"/>
          </a:p>
        </p:txBody>
      </p:sp>
      <p:sp>
        <p:nvSpPr>
          <p:cNvPr id="21" name="Shape 17"/>
          <p:cNvSpPr/>
          <p:nvPr/>
        </p:nvSpPr>
        <p:spPr>
          <a:xfrm>
            <a:off x="3214688" y="3046809"/>
            <a:ext cx="2714625" cy="1678781"/>
          </a:xfrm>
          <a:prstGeom prst="rect">
            <a:avLst/>
          </a:prstGeom>
          <a:solidFill>
            <a:srgbClr val="111C3A"/>
          </a:solidFill>
          <a:ln w="9144">
            <a:solidFill>
              <a:srgbClr val="1B2A4E"/>
            </a:solidFill>
            <a:prstDash val="solid"/>
          </a:ln>
        </p:spPr>
      </p:sp>
      <p:sp>
        <p:nvSpPr>
          <p:cNvPr id="22" name="Text 18"/>
          <p:cNvSpPr/>
          <p:nvPr/>
        </p:nvSpPr>
        <p:spPr>
          <a:xfrm>
            <a:off x="3393281" y="3528343"/>
            <a:ext cx="2357438" cy="110728"/>
          </a:xfrm>
          <a:prstGeom prst="rect">
            <a:avLst/>
          </a:prstGeom>
          <a:noFill/>
          <a:ln/>
        </p:spPr>
        <p:txBody>
          <a:bodyPr wrap="square" lIns="0" tIns="0" rIns="0" bIns="0" rtlCol="0" anchor="t">
            <a:spAutoFit/>
          </a:bodyPr>
          <a:lstStyle/>
          <a:p>
            <a:pPr algn="l"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API LAYER</a:t>
            </a:r>
            <a:endParaRPr lang="en-US" sz="600" dirty="0"/>
          </a:p>
        </p:txBody>
      </p:sp>
      <p:sp>
        <p:nvSpPr>
          <p:cNvPr id="23" name="Text 19"/>
          <p:cNvSpPr/>
          <p:nvPr/>
        </p:nvSpPr>
        <p:spPr>
          <a:xfrm>
            <a:off x="3393281" y="3710508"/>
            <a:ext cx="2357438" cy="182166"/>
          </a:xfrm>
          <a:prstGeom prst="rect">
            <a:avLst/>
          </a:prstGeom>
          <a:noFill/>
          <a:ln/>
        </p:spPr>
        <p:txBody>
          <a:bodyPr wrap="square" lIns="0" tIns="0" rIns="0" bIns="0" rtlCol="0" anchor="t">
            <a:spAutoFit/>
          </a:bodyPr>
          <a:lstStyle/>
          <a:p>
            <a:pPr algn="l" indent="0" marL="0">
              <a:buNone/>
            </a:pPr>
            <a:r>
              <a:rPr lang="en-US" sz="1000" b="1" dirty="0">
                <a:solidFill>
                  <a:srgbClr val="00E5FF"/>
                </a:solidFill>
                <a:latin typeface="Space Grotesk Bold" pitchFamily="34" charset="0"/>
                <a:ea typeface="Space Grotesk Bold" pitchFamily="34" charset="-122"/>
                <a:cs typeface="Space Grotesk Bold" pitchFamily="34" charset="-120"/>
              </a:rPr>
              <a:t>FastAPI</a:t>
            </a:r>
            <a:endParaRPr lang="en-US" sz="1000" dirty="0"/>
          </a:p>
        </p:txBody>
      </p:sp>
      <p:sp>
        <p:nvSpPr>
          <p:cNvPr id="24" name="Text 20"/>
          <p:cNvSpPr/>
          <p:nvPr/>
        </p:nvSpPr>
        <p:spPr>
          <a:xfrm>
            <a:off x="3393281" y="3964112"/>
            <a:ext cx="235743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0F4F8"/>
                </a:solidFill>
                <a:latin typeface="Inter" pitchFamily="34" charset="0"/>
                <a:ea typeface="Inter" pitchFamily="34" charset="-122"/>
                <a:cs typeface="Inter" pitchFamily="34" charset="-120"/>
              </a:rPr>
              <a:t>Single API call updates all operator views in real-time.</a:t>
            </a:r>
            <a:endParaRPr lang="en-US" sz="750" dirty="0"/>
          </a:p>
        </p:txBody>
      </p:sp>
      <p:sp>
        <p:nvSpPr>
          <p:cNvPr id="25" name="Shape 21"/>
          <p:cNvSpPr/>
          <p:nvPr/>
        </p:nvSpPr>
        <p:spPr>
          <a:xfrm>
            <a:off x="6143625" y="3046809"/>
            <a:ext cx="2714625" cy="1678781"/>
          </a:xfrm>
          <a:prstGeom prst="rect">
            <a:avLst/>
          </a:prstGeom>
          <a:solidFill>
            <a:srgbClr val="111C3A"/>
          </a:solidFill>
          <a:ln w="18288">
            <a:solidFill>
              <a:srgbClr val="FFB703"/>
            </a:solidFill>
            <a:prstDash val="solid"/>
          </a:ln>
        </p:spPr>
      </p:sp>
      <p:sp>
        <p:nvSpPr>
          <p:cNvPr id="26" name="Text 22"/>
          <p:cNvSpPr/>
          <p:nvPr/>
        </p:nvSpPr>
        <p:spPr>
          <a:xfrm>
            <a:off x="6322219" y="3528343"/>
            <a:ext cx="2357438" cy="110728"/>
          </a:xfrm>
          <a:prstGeom prst="rect">
            <a:avLst/>
          </a:prstGeom>
          <a:noFill/>
          <a:ln/>
        </p:spPr>
        <p:txBody>
          <a:bodyPr wrap="square" lIns="0" tIns="0" rIns="0" bIns="0" rtlCol="0" anchor="t">
            <a:spAutoFit/>
          </a:bodyPr>
          <a:lstStyle/>
          <a:p>
            <a:pPr algn="l"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AI SYNTHESIS</a:t>
            </a:r>
            <a:endParaRPr lang="en-US" sz="600" dirty="0"/>
          </a:p>
        </p:txBody>
      </p:sp>
      <p:sp>
        <p:nvSpPr>
          <p:cNvPr id="27" name="Text 23"/>
          <p:cNvSpPr/>
          <p:nvPr/>
        </p:nvSpPr>
        <p:spPr>
          <a:xfrm>
            <a:off x="6322219" y="3710508"/>
            <a:ext cx="2357438" cy="182166"/>
          </a:xfrm>
          <a:prstGeom prst="rect">
            <a:avLst/>
          </a:prstGeom>
          <a:noFill/>
          <a:ln/>
        </p:spPr>
        <p:txBody>
          <a:bodyPr wrap="square" lIns="0" tIns="0" rIns="0" bIns="0" rtlCol="0" anchor="t">
            <a:spAutoFit/>
          </a:bodyPr>
          <a:lstStyle/>
          <a:p>
            <a:pPr algn="l" indent="0" marL="0">
              <a:buNone/>
            </a:pPr>
            <a:r>
              <a:rPr lang="en-US" sz="1000" b="1" dirty="0">
                <a:solidFill>
                  <a:srgbClr val="FFB703"/>
                </a:solidFill>
                <a:latin typeface="Space Grotesk Bold" pitchFamily="34" charset="0"/>
                <a:ea typeface="Space Grotesk Bold" pitchFamily="34" charset="-122"/>
                <a:cs typeface="Space Grotesk Bold" pitchFamily="34" charset="-120"/>
              </a:rPr>
              <a:t>IBM Bob / watsonx</a:t>
            </a:r>
            <a:endParaRPr lang="en-US" sz="1000" dirty="0"/>
          </a:p>
        </p:txBody>
      </p:sp>
      <p:sp>
        <p:nvSpPr>
          <p:cNvPr id="28" name="Text 24"/>
          <p:cNvSpPr/>
          <p:nvPr/>
        </p:nvSpPr>
        <p:spPr>
          <a:xfrm>
            <a:off x="6322219" y="3964112"/>
            <a:ext cx="2357438"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F0F4F8"/>
                </a:solidFill>
                <a:latin typeface="Inter" pitchFamily="34" charset="0"/>
                <a:ea typeface="Inter" pitchFamily="34" charset="-122"/>
                <a:cs typeface="Inter" pitchFamily="34" charset="-120"/>
              </a:rPr>
              <a:t>Generating plain-English maintenance and crew plans.</a:t>
            </a:r>
            <a:endParaRPr lang="en-US" sz="750" dirty="0"/>
          </a:p>
        </p:txBody>
      </p:sp>
      <p:sp>
        <p:nvSpPr>
          <p:cNvPr id="29" name="Text 25"/>
          <p:cNvSpPr/>
          <p:nvPr/>
        </p:nvSpPr>
        <p:spPr>
          <a:xfrm>
            <a:off x="8733234" y="4736306"/>
            <a:ext cx="125016"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BOB EARNS ITS PLACE AT THE DECISION POINT</a:t>
            </a:r>
            <a:endParaRPr lang="en-US" sz="1600" dirty="0"/>
          </a:p>
        </p:txBody>
      </p:sp>
      <p:sp>
        <p:nvSpPr>
          <p:cNvPr id="5" name="Text 1"/>
          <p:cNvSpPr/>
          <p:nvPr/>
        </p:nvSpPr>
        <p:spPr>
          <a:xfrm>
            <a:off x="285750" y="1164431"/>
            <a:ext cx="4143375" cy="207169"/>
          </a:xfrm>
          <a:prstGeom prst="rect">
            <a:avLst/>
          </a:prstGeom>
          <a:noFill/>
          <a:ln/>
        </p:spPr>
        <p:txBody>
          <a:bodyPr wrap="square" lIns="0" tIns="0" rIns="0" bIns="85090" rtlCol="0" anchor="t">
            <a:spAutoFit/>
          </a:bodyPr>
          <a:lstStyle/>
          <a:p>
            <a:pPr algn="l" indent="0" marL="0">
              <a:buNone/>
            </a:pPr>
            <a:r>
              <a:rPr lang="en-US" sz="750" spc="2" kern="0" dirty="0">
                <a:solidFill>
                  <a:srgbClr val="8D99AE"/>
                </a:solidFill>
                <a:latin typeface="Space Grotesk Bold" pitchFamily="34" charset="0"/>
                <a:ea typeface="Space Grotesk Bold" pitchFamily="34" charset="-122"/>
                <a:cs typeface="Space Grotesk Bold" pitchFamily="34" charset="-120"/>
              </a:rPr>
              <a:t>INPUT: STRUCTURED RISK DATA</a:t>
            </a:r>
            <a:endParaRPr lang="en-US" sz="750" dirty="0"/>
          </a:p>
        </p:txBody>
      </p:sp>
      <p:sp>
        <p:nvSpPr>
          <p:cNvPr id="6" name="Shape 2"/>
          <p:cNvSpPr/>
          <p:nvPr/>
        </p:nvSpPr>
        <p:spPr>
          <a:xfrm>
            <a:off x="285750" y="1514475"/>
            <a:ext cx="4143375" cy="3343275"/>
          </a:xfrm>
          <a:prstGeom prst="rect">
            <a:avLst/>
          </a:prstGeom>
          <a:solidFill>
            <a:srgbClr val="111C3A"/>
          </a:solidFill>
          <a:ln/>
        </p:spPr>
      </p:sp>
      <p:sp>
        <p:nvSpPr>
          <p:cNvPr id="7" name="Text 3"/>
          <p:cNvSpPr/>
          <p:nvPr/>
        </p:nvSpPr>
        <p:spPr>
          <a:xfrm>
            <a:off x="285750" y="1514475"/>
            <a:ext cx="4143375" cy="3343275"/>
          </a:xfrm>
          <a:prstGeom prst="rect">
            <a:avLst/>
          </a:prstGeom>
          <a:noFill/>
          <a:ln/>
        </p:spPr>
        <p:txBody>
          <a:bodyPr wrap="square" lIns="212598" tIns="212598" rIns="212598" bIns="212598" rtlCol="0" anchor="t">
            <a:spAutoFit/>
          </a:bodyPr>
          <a:lstStyle/>
          <a:p>
            <a:pPr algn="l" indent="0" marL="0">
              <a:lnSpc>
                <a:spcPct val="120000"/>
              </a:lnSpc>
              <a:buNone/>
            </a:pPr>
            <a:r>
              <a:rPr lang="en-US" sz="750" dirty="0">
                <a:solidFill>
                  <a:srgbClr val="00E5FF"/>
                </a:solidFill>
                <a:latin typeface="Courier New" pitchFamily="34" charset="0"/>
                <a:ea typeface="Courier New" pitchFamily="34" charset="-122"/>
                <a:cs typeface="Courier New" pitchFamily="34" charset="-120"/>
              </a:rPr>
              <a:t>{ "asset_id": "TX-4092", "failure_prob": 0.84, "severity_score": 9.2, "top_shap_features": [ "oil_temp_rise", "partial_discharge_count" ], "weather_context": "Severe Storm Warning", "impact": "1,200 customers" }</a:t>
            </a:r>
            <a:endParaRPr lang="en-US" sz="750" dirty="0"/>
          </a:p>
        </p:txBody>
      </p:sp>
      <p:sp>
        <p:nvSpPr>
          <p:cNvPr id="8" name="Text 4"/>
          <p:cNvSpPr/>
          <p:nvPr/>
        </p:nvSpPr>
        <p:spPr>
          <a:xfrm>
            <a:off x="4714875" y="1164431"/>
            <a:ext cx="4143375" cy="207169"/>
          </a:xfrm>
          <a:prstGeom prst="rect">
            <a:avLst/>
          </a:prstGeom>
          <a:noFill/>
          <a:ln/>
        </p:spPr>
        <p:txBody>
          <a:bodyPr wrap="square" lIns="0" tIns="0" rIns="0" bIns="85090" rtlCol="0" anchor="t">
            <a:spAutoFit/>
          </a:bodyPr>
          <a:lstStyle/>
          <a:p>
            <a:pPr algn="l" indent="0" marL="0">
              <a:buNone/>
            </a:pPr>
            <a:r>
              <a:rPr lang="en-US" sz="750" spc="2" kern="0" dirty="0">
                <a:solidFill>
                  <a:srgbClr val="8D99AE"/>
                </a:solidFill>
                <a:latin typeface="Space Grotesk Bold" pitchFamily="34" charset="0"/>
                <a:ea typeface="Space Grotesk Bold" pitchFamily="34" charset="-122"/>
                <a:cs typeface="Space Grotesk Bold" pitchFamily="34" charset="-120"/>
              </a:rPr>
              <a:t>OUTPUT: IBM BOB FIELD BRIEFING</a:t>
            </a:r>
            <a:endParaRPr lang="en-US" sz="750" dirty="0"/>
          </a:p>
        </p:txBody>
      </p:sp>
      <p:sp>
        <p:nvSpPr>
          <p:cNvPr id="9" name="Shape 5"/>
          <p:cNvSpPr/>
          <p:nvPr/>
        </p:nvSpPr>
        <p:spPr>
          <a:xfrm>
            <a:off x="4714875" y="1514475"/>
            <a:ext cx="4143375" cy="3343275"/>
          </a:xfrm>
          <a:prstGeom prst="rect">
            <a:avLst/>
          </a:prstGeom>
          <a:solidFill>
            <a:srgbClr val="111C3A"/>
          </a:solidFill>
          <a:ln/>
        </p:spPr>
      </p:sp>
      <p:sp>
        <p:nvSpPr>
          <p:cNvPr id="10" name="Shape 6"/>
          <p:cNvSpPr/>
          <p:nvPr/>
        </p:nvSpPr>
        <p:spPr>
          <a:xfrm>
            <a:off x="4714875" y="1514475"/>
            <a:ext cx="28575" cy="3343275"/>
          </a:xfrm>
          <a:prstGeom prst="rect">
            <a:avLst/>
          </a:prstGeom>
          <a:solidFill>
            <a:srgbClr val="FFB703"/>
          </a:solidFill>
          <a:ln/>
        </p:spPr>
      </p:sp>
      <p:sp>
        <p:nvSpPr>
          <p:cNvPr id="11" name="Text 7"/>
          <p:cNvSpPr/>
          <p:nvPr/>
        </p:nvSpPr>
        <p:spPr>
          <a:xfrm>
            <a:off x="4893469" y="1693069"/>
            <a:ext cx="3786188" cy="411435"/>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FFB703"/>
                </a:solidFill>
                <a:latin typeface="Inter SemiBold" pitchFamily="34" charset="0"/>
                <a:ea typeface="Inter SemiBold" pitchFamily="34" charset="-122"/>
                <a:cs typeface="Inter SemiBold" pitchFamily="34" charset="-120"/>
              </a:rPr>
              <a:t>PRIORITY ALPHA:</a:t>
            </a:r>
            <a:r>
              <a:rPr lang="en-US" sz="950" dirty="0">
                <a:solidFill>
                  <a:srgbClr val="F0F4F8"/>
                </a:solidFill>
                <a:latin typeface="Inter" pitchFamily="34" charset="0"/>
                <a:ea typeface="Inter" pitchFamily="34" charset="-122"/>
                <a:cs typeface="Inter" pitchFamily="34" charset="-120"/>
              </a:rPr>
              <a:t> Immediate dispatch to Transformer </a:t>
            </a:r>
            <a:r>
              <a:rPr lang="en-US" sz="900" b="1" dirty="0">
                <a:solidFill>
                  <a:srgbClr val="FFB703"/>
                </a:solidFill>
                <a:latin typeface="Inter SemiBold" pitchFamily="34" charset="0"/>
                <a:ea typeface="Inter SemiBold" pitchFamily="34" charset="-122"/>
                <a:cs typeface="Inter SemiBold" pitchFamily="34" charset="-120"/>
              </a:rPr>
              <a:t>TX-</a:t>
            </a:r>
            <a:r>
              <a:rPr lang="en-US" sz="900" b="1" dirty="0">
                <a:solidFill>
                  <a:srgbClr val="FFB703"/>
                </a:solidFill>
                <a:latin typeface="Inter SemiBold" pitchFamily="34" charset="0"/>
                <a:ea typeface="Inter SemiBold" pitchFamily="34" charset="-122"/>
                <a:cs typeface="Inter SemiBold" pitchFamily="34" charset="-120"/>
              </a:rPr>
              <a:t>4092</a:t>
            </a:r>
            <a:r>
              <a:rPr lang="en-US" sz="950" dirty="0">
                <a:solidFill>
                  <a:srgbClr val="F0F4F8"/>
                </a:solidFill>
                <a:latin typeface="Inter" pitchFamily="34" charset="0"/>
                <a:ea typeface="Inter" pitchFamily="34" charset="-122"/>
                <a:cs typeface="Inter" pitchFamily="34" charset="-120"/>
              </a:rPr>
              <a:t>.</a:t>
            </a:r>
            <a:endParaRPr lang="en-US" sz="900" dirty="0"/>
          </a:p>
        </p:txBody>
      </p:sp>
      <p:sp>
        <p:nvSpPr>
          <p:cNvPr id="12" name="Text 8"/>
          <p:cNvSpPr/>
          <p:nvPr/>
        </p:nvSpPr>
        <p:spPr>
          <a:xfrm>
            <a:off x="4893469" y="2310222"/>
            <a:ext cx="3786188"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Model flags 84% failure probability driven by critical oil temperature rise and partial discharge spikes. Combined with the 48-hour severe storm warning, this asset poses a high risk to 1,200 customers.</a:t>
            </a:r>
            <a:endParaRPr lang="en-US" sz="950" dirty="0"/>
          </a:p>
        </p:txBody>
      </p:sp>
      <p:sp>
        <p:nvSpPr>
          <p:cNvPr id="13" name="Text 9"/>
          <p:cNvSpPr/>
          <p:nvPr/>
        </p:nvSpPr>
        <p:spPr>
          <a:xfrm>
            <a:off x="4893469" y="3338810"/>
            <a:ext cx="3786188" cy="411435"/>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FFB703"/>
                </a:solidFill>
                <a:latin typeface="Inter SemiBold" pitchFamily="34" charset="0"/>
                <a:ea typeface="Inter SemiBold" pitchFamily="34" charset="-122"/>
                <a:cs typeface="Inter SemiBold" pitchFamily="34" charset="-120"/>
              </a:rPr>
              <a:t>ACTION:</a:t>
            </a:r>
            <a:r>
              <a:rPr lang="en-US" sz="950" dirty="0">
                <a:solidFill>
                  <a:srgbClr val="F0F4F8"/>
                </a:solidFill>
                <a:latin typeface="Inter" pitchFamily="34" charset="0"/>
                <a:ea typeface="Inter" pitchFamily="34" charset="-122"/>
                <a:cs typeface="Inter" pitchFamily="34" charset="-120"/>
              </a:rPr>
              <a:t> Deploy crew for immediate thermal inspection and </a:t>
            </a:r>
            <a:r>
              <a:rPr lang="en-US" sz="950" dirty="0">
                <a:solidFill>
                  <a:srgbClr val="F0F4F8"/>
                </a:solidFill>
                <a:latin typeface="Inter" pitchFamily="34" charset="0"/>
                <a:ea typeface="Inter" pitchFamily="34" charset="-122"/>
                <a:cs typeface="Inter" pitchFamily="34" charset="-120"/>
              </a:rPr>
              <a:t>oil sampling before storm onset.</a:t>
            </a:r>
            <a:endParaRPr lang="en-US" sz="900" dirty="0"/>
          </a:p>
        </p:txBody>
      </p:sp>
      <p:sp>
        <p:nvSpPr>
          <p:cNvPr id="14" name="Text 10"/>
          <p:cNvSpPr/>
          <p:nvPr/>
        </p:nvSpPr>
        <p:spPr>
          <a:xfrm>
            <a:off x="8733234" y="4736306"/>
            <a:ext cx="125016"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PROBABILITY IS NOT PRIORITY</a:t>
            </a:r>
            <a:endParaRPr lang="en-US" sz="1600" dirty="0"/>
          </a:p>
        </p:txBody>
      </p:sp>
      <p:sp>
        <p:nvSpPr>
          <p:cNvPr id="5" name="Shape 1"/>
          <p:cNvSpPr/>
          <p:nvPr/>
        </p:nvSpPr>
        <p:spPr>
          <a:xfrm>
            <a:off x="285750" y="1753846"/>
            <a:ext cx="3257550" cy="1682967"/>
          </a:xfrm>
          <a:prstGeom prst="rect">
            <a:avLst/>
          </a:prstGeom>
          <a:solidFill>
            <a:srgbClr val="111C3A"/>
          </a:solidFill>
          <a:ln/>
        </p:spPr>
      </p:sp>
      <p:sp>
        <p:nvSpPr>
          <p:cNvPr id="6" name="Shape 2"/>
          <p:cNvSpPr/>
          <p:nvPr/>
        </p:nvSpPr>
        <p:spPr>
          <a:xfrm>
            <a:off x="285750" y="1753846"/>
            <a:ext cx="28575" cy="1682967"/>
          </a:xfrm>
          <a:prstGeom prst="rect">
            <a:avLst/>
          </a:prstGeom>
          <a:solidFill>
            <a:srgbClr val="00E5FF"/>
          </a:solidFill>
          <a:ln/>
        </p:spPr>
      </p:sp>
      <p:sp>
        <p:nvSpPr>
          <p:cNvPr id="7" name="Text 3"/>
          <p:cNvSpPr/>
          <p:nvPr/>
        </p:nvSpPr>
        <p:spPr>
          <a:xfrm>
            <a:off x="571500" y="2039596"/>
            <a:ext cx="2686050" cy="128588"/>
          </a:xfrm>
          <a:prstGeom prst="rect">
            <a:avLst/>
          </a:prstGeom>
          <a:noFill/>
          <a:ln/>
        </p:spPr>
        <p:txBody>
          <a:bodyPr wrap="square" lIns="0" tIns="0" rIns="0" bIns="0" rtlCol="0" anchor="t">
            <a:spAutoFit/>
          </a:bodyPr>
          <a:lstStyle/>
          <a:p>
            <a:pPr algn="l" indent="0" marL="0">
              <a:buNone/>
            </a:pPr>
            <a:r>
              <a:rPr lang="en-US" sz="750" dirty="0">
                <a:solidFill>
                  <a:srgbClr val="8D99AE"/>
                </a:solidFill>
                <a:latin typeface="Space Grotesk Bold" pitchFamily="34" charset="0"/>
                <a:ea typeface="Space Grotesk Bold" pitchFamily="34" charset="-122"/>
                <a:cs typeface="Space Grotesk Bold" pitchFamily="34" charset="-120"/>
              </a:rPr>
              <a:t>SEVERITY RANKING ENGINE</a:t>
            </a:r>
            <a:endParaRPr lang="en-US" sz="750" dirty="0"/>
          </a:p>
        </p:txBody>
      </p:sp>
      <p:sp>
        <p:nvSpPr>
          <p:cNvPr id="8" name="Text 4"/>
          <p:cNvSpPr/>
          <p:nvPr/>
        </p:nvSpPr>
        <p:spPr>
          <a:xfrm>
            <a:off x="571500" y="2311059"/>
            <a:ext cx="2686050" cy="840005"/>
          </a:xfrm>
          <a:prstGeom prst="rect">
            <a:avLst/>
          </a:prstGeom>
          <a:noFill/>
          <a:ln/>
        </p:spPr>
        <p:txBody>
          <a:bodyPr wrap="square" lIns="0" tIns="0" rIns="0" bIns="0" rtlCol="0" anchor="t">
            <a:spAutoFit/>
          </a:bodyPr>
          <a:lstStyle/>
          <a:p>
            <a:pPr algn="l" indent="0" marL="0">
              <a:lnSpc>
                <a:spcPct val="112000"/>
              </a:lnSpc>
              <a:buNone/>
            </a:pPr>
            <a:r>
              <a:rPr lang="en-US" sz="1500" dirty="0">
                <a:solidFill>
                  <a:srgbClr val="00E5FF"/>
                </a:solidFill>
                <a:latin typeface="Space Grotesk Bold" pitchFamily="34" charset="0"/>
                <a:ea typeface="Space Grotesk Bold" pitchFamily="34" charset="-122"/>
                <a:cs typeface="Space Grotesk Bold" pitchFamily="34" charset="-120"/>
              </a:rPr>
              <a:t>P</a:t>
            </a:r>
            <a:r>
              <a:rPr lang="en-US" sz="1500" dirty="0">
                <a:solidFill>
                  <a:srgbClr val="F0F4F8"/>
                </a:solidFill>
                <a:latin typeface="Space Grotesk Bold" pitchFamily="34" charset="0"/>
                <a:ea typeface="Space Grotesk Bold" pitchFamily="34" charset="-122"/>
                <a:cs typeface="Space Grotesk Bold" pitchFamily="34" charset="-120"/>
              </a:rPr>
              <a:t>(Failure) </a:t>
            </a:r>
            <a:r>
              <a:rPr lang="en-US" sz="1500" dirty="0">
                <a:solidFill>
                  <a:srgbClr val="F0F4F8"/>
                </a:solidFill>
                <a:latin typeface="Space Grotesk Bold" pitchFamily="34" charset="0"/>
                <a:ea typeface="Space Grotesk Bold" pitchFamily="34" charset="-122"/>
                <a:cs typeface="Space Grotesk Bold" pitchFamily="34" charset="-120"/>
              </a:rPr>
              <a:t>
</a:t>
            </a:r>
            <a:r>
              <a:rPr lang="en-US" sz="1500" dirty="0">
                <a:solidFill>
                  <a:srgbClr val="F0F4F8"/>
                </a:solidFill>
                <a:latin typeface="Space Grotesk Bold" pitchFamily="34" charset="0"/>
                <a:ea typeface="Space Grotesk Bold" pitchFamily="34" charset="-122"/>
                <a:cs typeface="Space Grotesk Bold" pitchFamily="34" charset="-120"/>
              </a:rPr>
              <a:t>× </a:t>
            </a:r>
            <a:r>
              <a:rPr lang="en-US" sz="1500" dirty="0">
                <a:solidFill>
                  <a:srgbClr val="00E5FF"/>
                </a:solidFill>
                <a:latin typeface="Space Grotesk Bold" pitchFamily="34" charset="0"/>
                <a:ea typeface="Space Grotesk Bold" pitchFamily="34" charset="-122"/>
                <a:cs typeface="Space Grotesk Bold" pitchFamily="34" charset="-120"/>
              </a:rPr>
              <a:t>C</a:t>
            </a:r>
            <a:r>
              <a:rPr lang="en-US" sz="1500" dirty="0">
                <a:solidFill>
                  <a:srgbClr val="F0F4F8"/>
                </a:solidFill>
                <a:latin typeface="Space Grotesk Bold" pitchFamily="34" charset="0"/>
                <a:ea typeface="Space Grotesk Bold" pitchFamily="34" charset="-122"/>
                <a:cs typeface="Space Grotesk Bold" pitchFamily="34" charset="-120"/>
              </a:rPr>
              <a:t>ustomers Served </a:t>
            </a:r>
            <a:r>
              <a:rPr lang="en-US" sz="1500" dirty="0">
                <a:solidFill>
                  <a:srgbClr val="F0F4F8"/>
                </a:solidFill>
                <a:latin typeface="Space Grotesk Bold" pitchFamily="34" charset="0"/>
                <a:ea typeface="Space Grotesk Bold" pitchFamily="34" charset="-122"/>
                <a:cs typeface="Space Grotesk Bold" pitchFamily="34" charset="-120"/>
              </a:rPr>
              <a:t>
</a:t>
            </a:r>
            <a:r>
              <a:rPr lang="en-US" sz="1500" dirty="0">
                <a:solidFill>
                  <a:srgbClr val="F0F4F8"/>
                </a:solidFill>
                <a:latin typeface="Space Grotesk Bold" pitchFamily="34" charset="0"/>
                <a:ea typeface="Space Grotesk Bold" pitchFamily="34" charset="-122"/>
                <a:cs typeface="Space Grotesk Bold" pitchFamily="34" charset="-120"/>
              </a:rPr>
              <a:t>× </a:t>
            </a:r>
            <a:r>
              <a:rPr lang="en-US" sz="1500" dirty="0">
                <a:solidFill>
                  <a:srgbClr val="00E5FF"/>
                </a:solidFill>
                <a:latin typeface="Space Grotesk Bold" pitchFamily="34" charset="0"/>
                <a:ea typeface="Space Grotesk Bold" pitchFamily="34" charset="-122"/>
                <a:cs typeface="Space Grotesk Bold" pitchFamily="34" charset="-120"/>
              </a:rPr>
              <a:t>T</a:t>
            </a:r>
            <a:r>
              <a:rPr lang="en-US" sz="1500" dirty="0">
                <a:solidFill>
                  <a:srgbClr val="F0F4F8"/>
                </a:solidFill>
                <a:latin typeface="Space Grotesk Bold" pitchFamily="34" charset="0"/>
                <a:ea typeface="Space Grotesk Bold" pitchFamily="34" charset="-122"/>
                <a:cs typeface="Space Grotesk Bold" pitchFamily="34" charset="-120"/>
              </a:rPr>
              <a:t>ier Criticality</a:t>
            </a:r>
            <a:endParaRPr lang="en-US" sz="1500" dirty="0"/>
          </a:p>
        </p:txBody>
      </p:sp>
      <p:sp>
        <p:nvSpPr>
          <p:cNvPr id="9" name="Text 5"/>
          <p:cNvSpPr/>
          <p:nvPr/>
        </p:nvSpPr>
        <p:spPr>
          <a:xfrm>
            <a:off x="285750" y="3651126"/>
            <a:ext cx="3257550"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0F4F8"/>
                </a:solidFill>
                <a:latin typeface="Inter" pitchFamily="34" charset="0"/>
                <a:ea typeface="Inter" pitchFamily="34" charset="-122"/>
                <a:cs typeface="Inter" pitchFamily="34" charset="-120"/>
              </a:rPr>
              <a:t>A 40% failure probability on a backbone transmission asset outranks a 70% probability on a low-impact feeder.</a:t>
            </a:r>
            <a:endParaRPr lang="en-US" sz="950" dirty="0"/>
          </a:p>
        </p:txBody>
      </p:sp>
      <p:sp>
        <p:nvSpPr>
          <p:cNvPr id="10" name="Text 6"/>
          <p:cNvSpPr/>
          <p:nvPr/>
        </p:nvSpPr>
        <p:spPr>
          <a:xfrm rot="10800000">
            <a:off x="3971925" y="1164431"/>
            <a:ext cx="285750" cy="1632347"/>
          </a:xfrm>
          <a:prstGeom prst="rect">
            <a:avLst/>
          </a:prstGeom>
          <a:noFill/>
          <a:ln/>
        </p:spPr>
        <p:txBody>
          <a:bodyPr wrap="none" lIns="0" tIns="0" rIns="0" bIns="0" rtlCol="0" anchor="ctr">
            <a:spAutoFit/>
          </a:bodyPr>
          <a:lstStyle/>
          <a:p>
            <a:pPr algn="ctr"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IMPACT / CRITICALITY</a:t>
            </a:r>
            <a:endParaRPr lang="en-US" sz="600" dirty="0"/>
          </a:p>
        </p:txBody>
      </p:sp>
      <p:sp>
        <p:nvSpPr>
          <p:cNvPr id="11" name="Shape 7"/>
          <p:cNvSpPr/>
          <p:nvPr/>
        </p:nvSpPr>
        <p:spPr>
          <a:xfrm>
            <a:off x="4329113" y="1164431"/>
            <a:ext cx="2228850" cy="1632347"/>
          </a:xfrm>
          <a:prstGeom prst="rect">
            <a:avLst/>
          </a:prstGeom>
          <a:solidFill>
            <a:srgbClr val="111C3A"/>
          </a:solidFill>
          <a:ln w="9144">
            <a:solidFill>
              <a:srgbClr val="FFB703"/>
            </a:solidFill>
            <a:prstDash val="solid"/>
          </a:ln>
        </p:spPr>
      </p:sp>
      <p:sp>
        <p:nvSpPr>
          <p:cNvPr id="12" name="Text 8"/>
          <p:cNvSpPr/>
          <p:nvPr/>
        </p:nvSpPr>
        <p:spPr>
          <a:xfrm>
            <a:off x="4920258" y="1841302"/>
            <a:ext cx="1046559" cy="139303"/>
          </a:xfrm>
          <a:prstGeom prst="rect">
            <a:avLst/>
          </a:prstGeom>
          <a:noFill/>
          <a:ln/>
        </p:spPr>
        <p:txBody>
          <a:bodyPr wrap="none" lIns="0" tIns="0" rIns="0" bIns="0" rtlCol="0" anchor="t">
            <a:spAutoFit/>
          </a:bodyPr>
          <a:lstStyle/>
          <a:p>
            <a:pPr algn="ctr" indent="0" marL="0">
              <a:buNone/>
            </a:pPr>
            <a:r>
              <a:rPr lang="en-US" sz="800" b="1" dirty="0">
                <a:solidFill>
                  <a:srgbClr val="FFB703"/>
                </a:solidFill>
                <a:latin typeface="Inter SemiBold" pitchFamily="34" charset="0"/>
                <a:ea typeface="Inter SemiBold" pitchFamily="34" charset="-122"/>
                <a:cs typeface="Inter SemiBold" pitchFamily="34" charset="-120"/>
              </a:rPr>
              <a:t>MEDIUM PRIORITY</a:t>
            </a:r>
            <a:endParaRPr lang="en-US" sz="800" dirty="0"/>
          </a:p>
        </p:txBody>
      </p:sp>
      <p:sp>
        <p:nvSpPr>
          <p:cNvPr id="13" name="Text 9"/>
          <p:cNvSpPr/>
          <p:nvPr/>
        </p:nvSpPr>
        <p:spPr>
          <a:xfrm>
            <a:off x="4964906" y="2016323"/>
            <a:ext cx="957263" cy="103584"/>
          </a:xfrm>
          <a:prstGeom prst="rect">
            <a:avLst/>
          </a:prstGeom>
          <a:noFill/>
          <a:ln/>
        </p:spPr>
        <p:txBody>
          <a:bodyPr wrap="none" lIns="0" tIns="0" rIns="0" bIns="0" rtlCol="0" anchor="t">
            <a:spAutoFit/>
          </a:bodyPr>
          <a:lstStyle/>
          <a:p>
            <a:pPr algn="ctr" indent="0" marL="0">
              <a:buNone/>
            </a:pPr>
            <a:r>
              <a:rPr lang="en-US" sz="600" dirty="0">
                <a:solidFill>
                  <a:srgbClr val="FFB703"/>
                </a:solidFill>
                <a:latin typeface="Inter" pitchFamily="34" charset="0"/>
                <a:ea typeface="Inter" pitchFamily="34" charset="-122"/>
                <a:cs typeface="Inter" pitchFamily="34" charset="-120"/>
              </a:rPr>
              <a:t>High Prob / Low Impact</a:t>
            </a:r>
            <a:endParaRPr lang="en-US" sz="600" dirty="0"/>
          </a:p>
        </p:txBody>
      </p:sp>
      <p:sp>
        <p:nvSpPr>
          <p:cNvPr id="14" name="Shape 10"/>
          <p:cNvSpPr/>
          <p:nvPr/>
        </p:nvSpPr>
        <p:spPr>
          <a:xfrm>
            <a:off x="6629400" y="1164431"/>
            <a:ext cx="2228850" cy="1632347"/>
          </a:xfrm>
          <a:prstGeom prst="rect">
            <a:avLst/>
          </a:prstGeom>
          <a:solidFill>
            <a:srgbClr val="FFB703"/>
          </a:solidFill>
          <a:ln/>
        </p:spPr>
      </p:sp>
      <p:sp>
        <p:nvSpPr>
          <p:cNvPr id="15" name="Text 11"/>
          <p:cNvSpPr/>
          <p:nvPr/>
        </p:nvSpPr>
        <p:spPr>
          <a:xfrm>
            <a:off x="7241977" y="1841302"/>
            <a:ext cx="1003697" cy="139303"/>
          </a:xfrm>
          <a:prstGeom prst="rect">
            <a:avLst/>
          </a:prstGeom>
          <a:noFill/>
          <a:ln/>
        </p:spPr>
        <p:txBody>
          <a:bodyPr wrap="none" lIns="0" tIns="0" rIns="0" bIns="0" rtlCol="0" anchor="t">
            <a:spAutoFit/>
          </a:bodyPr>
          <a:lstStyle/>
          <a:p>
            <a:pPr algn="ctr" indent="0" marL="0">
              <a:buNone/>
            </a:pPr>
            <a:r>
              <a:rPr lang="en-US" sz="800" b="1" dirty="0">
                <a:solidFill>
                  <a:srgbClr val="0B132B"/>
                </a:solidFill>
                <a:latin typeface="Inter SemiBold" pitchFamily="34" charset="0"/>
                <a:ea typeface="Inter SemiBold" pitchFamily="34" charset="-122"/>
                <a:cs typeface="Inter SemiBold" pitchFamily="34" charset="-120"/>
              </a:rPr>
              <a:t>CRITICAL ACTION</a:t>
            </a:r>
            <a:endParaRPr lang="en-US" sz="800" dirty="0"/>
          </a:p>
        </p:txBody>
      </p:sp>
      <p:sp>
        <p:nvSpPr>
          <p:cNvPr id="16" name="Text 12"/>
          <p:cNvSpPr/>
          <p:nvPr/>
        </p:nvSpPr>
        <p:spPr>
          <a:xfrm>
            <a:off x="7256264" y="2016323"/>
            <a:ext cx="975122" cy="103584"/>
          </a:xfrm>
          <a:prstGeom prst="rect">
            <a:avLst/>
          </a:prstGeom>
          <a:noFill/>
          <a:ln/>
        </p:spPr>
        <p:txBody>
          <a:bodyPr wrap="none" lIns="0" tIns="0" rIns="0" bIns="0" rtlCol="0" anchor="t">
            <a:spAutoFit/>
          </a:bodyPr>
          <a:lstStyle/>
          <a:p>
            <a:pPr algn="ctr" indent="0" marL="0">
              <a:buNone/>
            </a:pPr>
            <a:r>
              <a:rPr lang="en-US" sz="600" dirty="0">
                <a:solidFill>
                  <a:srgbClr val="0B132B"/>
                </a:solidFill>
                <a:latin typeface="Inter" pitchFamily="34" charset="0"/>
                <a:ea typeface="Inter" pitchFamily="34" charset="-122"/>
                <a:cs typeface="Inter" pitchFamily="34" charset="-120"/>
              </a:rPr>
              <a:t>High Prob / High Impact</a:t>
            </a:r>
            <a:endParaRPr lang="en-US" sz="600" dirty="0"/>
          </a:p>
        </p:txBody>
      </p:sp>
      <p:sp>
        <p:nvSpPr>
          <p:cNvPr id="17" name="Shape 13"/>
          <p:cNvSpPr/>
          <p:nvPr/>
        </p:nvSpPr>
        <p:spPr>
          <a:xfrm>
            <a:off x="4329113" y="2868216"/>
            <a:ext cx="2228850" cy="1632347"/>
          </a:xfrm>
          <a:prstGeom prst="rect">
            <a:avLst/>
          </a:prstGeom>
          <a:solidFill>
            <a:srgbClr val="111C3A"/>
          </a:solidFill>
          <a:ln w="9144">
            <a:solidFill>
              <a:srgbClr val="1B2A4E"/>
            </a:solidFill>
            <a:prstDash val="solid"/>
          </a:ln>
        </p:spPr>
      </p:sp>
      <p:sp>
        <p:nvSpPr>
          <p:cNvPr id="18" name="Text 14"/>
          <p:cNvSpPr/>
          <p:nvPr/>
        </p:nvSpPr>
        <p:spPr>
          <a:xfrm>
            <a:off x="5168503" y="3545086"/>
            <a:ext cx="550069" cy="139303"/>
          </a:xfrm>
          <a:prstGeom prst="rect">
            <a:avLst/>
          </a:prstGeom>
          <a:noFill/>
          <a:ln/>
        </p:spPr>
        <p:txBody>
          <a:bodyPr wrap="none" lIns="0" tIns="0" rIns="0" bIns="0" rtlCol="0" anchor="t">
            <a:spAutoFit/>
          </a:bodyPr>
          <a:lstStyle/>
          <a:p>
            <a:pPr algn="ctr" indent="0" marL="0">
              <a:buNone/>
            </a:pPr>
            <a:r>
              <a:rPr lang="en-US" sz="800" b="1" dirty="0">
                <a:solidFill>
                  <a:srgbClr val="8D99AE"/>
                </a:solidFill>
                <a:latin typeface="Inter SemiBold" pitchFamily="34" charset="0"/>
                <a:ea typeface="Inter SemiBold" pitchFamily="34" charset="-122"/>
                <a:cs typeface="Inter SemiBold" pitchFamily="34" charset="-120"/>
              </a:rPr>
              <a:t>MONITOR</a:t>
            </a:r>
            <a:endParaRPr lang="en-US" sz="800" dirty="0"/>
          </a:p>
        </p:txBody>
      </p:sp>
      <p:sp>
        <p:nvSpPr>
          <p:cNvPr id="19" name="Text 15"/>
          <p:cNvSpPr/>
          <p:nvPr/>
        </p:nvSpPr>
        <p:spPr>
          <a:xfrm>
            <a:off x="4973836" y="3720108"/>
            <a:ext cx="939403" cy="103584"/>
          </a:xfrm>
          <a:prstGeom prst="rect">
            <a:avLst/>
          </a:prstGeom>
          <a:noFill/>
          <a:ln/>
        </p:spPr>
        <p:txBody>
          <a:bodyPr wrap="none" lIns="0" tIns="0" rIns="0" bIns="0" rtlCol="0" anchor="t">
            <a:spAutoFit/>
          </a:bodyPr>
          <a:lstStyle/>
          <a:p>
            <a:pPr algn="ctr" indent="0" marL="0">
              <a:buNone/>
            </a:pPr>
            <a:r>
              <a:rPr lang="en-US" sz="600" dirty="0">
                <a:solidFill>
                  <a:srgbClr val="8D99AE"/>
                </a:solidFill>
                <a:latin typeface="Inter" pitchFamily="34" charset="0"/>
                <a:ea typeface="Inter" pitchFamily="34" charset="-122"/>
                <a:cs typeface="Inter" pitchFamily="34" charset="-120"/>
              </a:rPr>
              <a:t>Low Prob / Low Impact</a:t>
            </a:r>
            <a:endParaRPr lang="en-US" sz="600" dirty="0"/>
          </a:p>
        </p:txBody>
      </p:sp>
      <p:sp>
        <p:nvSpPr>
          <p:cNvPr id="20" name="Shape 16"/>
          <p:cNvSpPr/>
          <p:nvPr/>
        </p:nvSpPr>
        <p:spPr>
          <a:xfrm>
            <a:off x="6629400" y="2868216"/>
            <a:ext cx="2228850" cy="1632347"/>
          </a:xfrm>
          <a:prstGeom prst="rect">
            <a:avLst/>
          </a:prstGeom>
          <a:solidFill>
            <a:srgbClr val="111C3A"/>
          </a:solidFill>
          <a:ln w="9144">
            <a:solidFill>
              <a:srgbClr val="FFB703"/>
            </a:solidFill>
            <a:prstDash val="solid"/>
          </a:ln>
        </p:spPr>
      </p:sp>
      <p:sp>
        <p:nvSpPr>
          <p:cNvPr id="21" name="Text 17"/>
          <p:cNvSpPr/>
          <p:nvPr/>
        </p:nvSpPr>
        <p:spPr>
          <a:xfrm>
            <a:off x="7320558" y="3545086"/>
            <a:ext cx="846534" cy="139303"/>
          </a:xfrm>
          <a:prstGeom prst="rect">
            <a:avLst/>
          </a:prstGeom>
          <a:noFill/>
          <a:ln/>
        </p:spPr>
        <p:txBody>
          <a:bodyPr wrap="none" lIns="0" tIns="0" rIns="0" bIns="0" rtlCol="0" anchor="t">
            <a:spAutoFit/>
          </a:bodyPr>
          <a:lstStyle/>
          <a:p>
            <a:pPr algn="ctr" indent="0" marL="0">
              <a:buNone/>
            </a:pPr>
            <a:r>
              <a:rPr lang="en-US" sz="800" b="1" dirty="0">
                <a:solidFill>
                  <a:srgbClr val="FFB703"/>
                </a:solidFill>
                <a:latin typeface="Inter SemiBold" pitchFamily="34" charset="0"/>
                <a:ea typeface="Inter SemiBold" pitchFamily="34" charset="-122"/>
                <a:cs typeface="Inter SemiBold" pitchFamily="34" charset="-120"/>
              </a:rPr>
              <a:t>PREVENTATIVE</a:t>
            </a:r>
            <a:endParaRPr lang="en-US" sz="800" dirty="0"/>
          </a:p>
        </p:txBody>
      </p:sp>
      <p:sp>
        <p:nvSpPr>
          <p:cNvPr id="22" name="Text 18"/>
          <p:cNvSpPr/>
          <p:nvPr/>
        </p:nvSpPr>
        <p:spPr>
          <a:xfrm>
            <a:off x="7265194" y="3720108"/>
            <a:ext cx="957263" cy="103584"/>
          </a:xfrm>
          <a:prstGeom prst="rect">
            <a:avLst/>
          </a:prstGeom>
          <a:noFill/>
          <a:ln/>
        </p:spPr>
        <p:txBody>
          <a:bodyPr wrap="none" lIns="0" tIns="0" rIns="0" bIns="0" rtlCol="0" anchor="t">
            <a:spAutoFit/>
          </a:bodyPr>
          <a:lstStyle/>
          <a:p>
            <a:pPr algn="ctr" indent="0" marL="0">
              <a:buNone/>
            </a:pPr>
            <a:r>
              <a:rPr lang="en-US" sz="600" dirty="0">
                <a:solidFill>
                  <a:srgbClr val="FFB703"/>
                </a:solidFill>
                <a:latin typeface="Inter" pitchFamily="34" charset="0"/>
                <a:ea typeface="Inter" pitchFamily="34" charset="-122"/>
                <a:cs typeface="Inter" pitchFamily="34" charset="-120"/>
              </a:rPr>
              <a:t>Low Prob / High Impact</a:t>
            </a:r>
            <a:endParaRPr lang="en-US" sz="600" dirty="0"/>
          </a:p>
        </p:txBody>
      </p:sp>
      <p:sp>
        <p:nvSpPr>
          <p:cNvPr id="23" name="Text 19"/>
          <p:cNvSpPr/>
          <p:nvPr/>
        </p:nvSpPr>
        <p:spPr>
          <a:xfrm>
            <a:off x="4329113" y="4572000"/>
            <a:ext cx="2228850" cy="285750"/>
          </a:xfrm>
          <a:prstGeom prst="rect">
            <a:avLst/>
          </a:prstGeom>
          <a:noFill/>
          <a:ln/>
        </p:spPr>
        <p:txBody>
          <a:bodyPr wrap="square" lIns="0" tIns="0" rIns="0" bIns="0" rtlCol="0" anchor="ctr">
            <a:spAutoFit/>
          </a:bodyPr>
          <a:lstStyle/>
          <a:p>
            <a:pPr algn="ctr"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LOW PROBABILITY</a:t>
            </a:r>
            <a:endParaRPr lang="en-US" sz="600" dirty="0"/>
          </a:p>
        </p:txBody>
      </p:sp>
      <p:sp>
        <p:nvSpPr>
          <p:cNvPr id="24" name="Text 20"/>
          <p:cNvSpPr/>
          <p:nvPr/>
        </p:nvSpPr>
        <p:spPr>
          <a:xfrm>
            <a:off x="6629400" y="4572000"/>
            <a:ext cx="2228850" cy="285750"/>
          </a:xfrm>
          <a:prstGeom prst="rect">
            <a:avLst/>
          </a:prstGeom>
          <a:noFill/>
          <a:ln/>
        </p:spPr>
        <p:txBody>
          <a:bodyPr wrap="square" lIns="0" tIns="0" rIns="0" bIns="0" rtlCol="0" anchor="ctr">
            <a:spAutoFit/>
          </a:bodyPr>
          <a:lstStyle/>
          <a:p>
            <a:pPr algn="ctr" indent="0" marL="0">
              <a:buNone/>
            </a:pPr>
            <a:r>
              <a:rPr lang="en-US" sz="600" spc="1" kern="0" dirty="0">
                <a:solidFill>
                  <a:srgbClr val="8D99AE"/>
                </a:solidFill>
                <a:latin typeface="Space Grotesk Bold" pitchFamily="34" charset="0"/>
                <a:ea typeface="Space Grotesk Bold" pitchFamily="34" charset="-122"/>
                <a:cs typeface="Space Grotesk Bold" pitchFamily="34" charset="-120"/>
              </a:rPr>
              <a:t>HIGH PROBABILITY</a:t>
            </a:r>
            <a:endParaRPr lang="en-US" sz="600" dirty="0"/>
          </a:p>
        </p:txBody>
      </p:sp>
      <p:sp>
        <p:nvSpPr>
          <p:cNvPr id="25" name="Text 21"/>
          <p:cNvSpPr/>
          <p:nvPr/>
        </p:nvSpPr>
        <p:spPr>
          <a:xfrm>
            <a:off x="8740378" y="4736306"/>
            <a:ext cx="117872"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292894"/>
          </a:xfrm>
          <a:prstGeom prst="rect">
            <a:avLst/>
          </a:prstGeom>
          <a:noFill/>
          <a:ln/>
        </p:spPr>
        <p:txBody>
          <a:bodyPr wrap="square" lIns="0" tIns="0" rIns="0" bIns="0" rtlCol="0" anchor="t">
            <a:spAutoFit/>
          </a:bodyPr>
          <a:lstStyle/>
          <a:p>
            <a:pPr algn="l" indent="0" marL="0">
              <a:buNone/>
            </a:pPr>
            <a:r>
              <a:rPr lang="en-US" sz="1600" b="1" dirty="0">
                <a:solidFill>
                  <a:srgbClr val="F0F4F8"/>
                </a:solidFill>
                <a:latin typeface="Space Grotesk Bold" pitchFamily="34" charset="0"/>
                <a:ea typeface="Space Grotesk Bold" pitchFamily="34" charset="-122"/>
                <a:cs typeface="Space Grotesk Bold" pitchFamily="34" charset="-120"/>
              </a:rPr>
              <a:t>DESIGNED TO MOVE FROM PROTOTYPE TO UTILITY</a:t>
            </a:r>
            <a:endParaRPr lang="en-US" sz="1600" dirty="0"/>
          </a:p>
        </p:txBody>
      </p:sp>
      <p:sp>
        <p:nvSpPr>
          <p:cNvPr id="5" name="Shape 1"/>
          <p:cNvSpPr/>
          <p:nvPr/>
        </p:nvSpPr>
        <p:spPr>
          <a:xfrm>
            <a:off x="285750" y="1522847"/>
            <a:ext cx="2714625" cy="2833613"/>
          </a:xfrm>
          <a:prstGeom prst="rect">
            <a:avLst/>
          </a:prstGeom>
          <a:solidFill>
            <a:srgbClr val="111C3A"/>
          </a:solidFill>
          <a:ln/>
        </p:spPr>
      </p:sp>
      <p:sp>
        <p:nvSpPr>
          <p:cNvPr id="6" name="Shape 2"/>
          <p:cNvSpPr/>
          <p:nvPr/>
        </p:nvSpPr>
        <p:spPr>
          <a:xfrm>
            <a:off x="285750" y="1522847"/>
            <a:ext cx="2714625" cy="28575"/>
          </a:xfrm>
          <a:prstGeom prst="rect">
            <a:avLst/>
          </a:prstGeom>
          <a:solidFill>
            <a:srgbClr val="00E5FF"/>
          </a:solidFill>
          <a:ln/>
        </p:spPr>
      </p:sp>
      <p:sp>
        <p:nvSpPr>
          <p:cNvPr id="7" name="Text 3"/>
          <p:cNvSpPr/>
          <p:nvPr/>
        </p:nvSpPr>
        <p:spPr>
          <a:xfrm>
            <a:off x="571500" y="1808597"/>
            <a:ext cx="2143125" cy="128588"/>
          </a:xfrm>
          <a:prstGeom prst="rect">
            <a:avLst/>
          </a:prstGeom>
          <a:noFill/>
          <a:ln/>
        </p:spPr>
        <p:txBody>
          <a:bodyPr wrap="square" lIns="0" tIns="0" rIns="0" bIns="0" rtlCol="0" anchor="t">
            <a:spAutoFit/>
          </a:bodyPr>
          <a:lstStyle/>
          <a:p>
            <a:pPr algn="l" indent="0" marL="0">
              <a:buNone/>
            </a:pPr>
            <a:r>
              <a:rPr lang="en-US" sz="750" spc="2" kern="0" dirty="0">
                <a:solidFill>
                  <a:srgbClr val="8D99AE"/>
                </a:solidFill>
                <a:latin typeface="Space Grotesk Bold" pitchFamily="34" charset="0"/>
                <a:ea typeface="Space Grotesk Bold" pitchFamily="34" charset="-122"/>
                <a:cs typeface="Space Grotesk Bold" pitchFamily="34" charset="-120"/>
              </a:rPr>
              <a:t>NEAR-TERM</a:t>
            </a:r>
            <a:endParaRPr lang="en-US" sz="750" dirty="0"/>
          </a:p>
        </p:txBody>
      </p:sp>
      <p:sp>
        <p:nvSpPr>
          <p:cNvPr id="8" name="Text 4"/>
          <p:cNvSpPr/>
          <p:nvPr/>
        </p:nvSpPr>
        <p:spPr>
          <a:xfrm>
            <a:off x="571500" y="2080059"/>
            <a:ext cx="2143125" cy="217884"/>
          </a:xfrm>
          <a:prstGeom prst="rect">
            <a:avLst/>
          </a:prstGeom>
          <a:noFill/>
          <a:ln/>
        </p:spPr>
        <p:txBody>
          <a:bodyPr wrap="square" lIns="0" tIns="0" rIns="0" bIns="0" rtlCol="0" anchor="t">
            <a:spAutoFit/>
          </a:bodyPr>
          <a:lstStyle/>
          <a:p>
            <a:pPr algn="l" indent="0" marL="0">
              <a:buNone/>
            </a:pPr>
            <a:r>
              <a:rPr lang="en-US" sz="1200" b="1" dirty="0">
                <a:solidFill>
                  <a:srgbClr val="F0F4F8"/>
                </a:solidFill>
                <a:latin typeface="Space Grotesk Bold" pitchFamily="34" charset="0"/>
                <a:ea typeface="Space Grotesk Bold" pitchFamily="34" charset="-122"/>
                <a:cs typeface="Space Grotesk Bold" pitchFamily="34" charset="-120"/>
              </a:rPr>
              <a:t>Integration</a:t>
            </a:r>
            <a:endParaRPr lang="en-US" sz="1200" dirty="0"/>
          </a:p>
        </p:txBody>
      </p:sp>
      <p:sp>
        <p:nvSpPr>
          <p:cNvPr id="9" name="Shape 5"/>
          <p:cNvSpPr/>
          <p:nvPr/>
        </p:nvSpPr>
        <p:spPr>
          <a:xfrm>
            <a:off x="571500" y="2512256"/>
            <a:ext cx="57150" cy="14288"/>
          </a:xfrm>
          <a:prstGeom prst="rect">
            <a:avLst/>
          </a:prstGeom>
          <a:solidFill>
            <a:srgbClr val="00E5FF"/>
          </a:solidFill>
          <a:ln/>
        </p:spPr>
      </p:sp>
      <p:sp>
        <p:nvSpPr>
          <p:cNvPr id="10" name="Text 6"/>
          <p:cNvSpPr/>
          <p:nvPr/>
        </p:nvSpPr>
        <p:spPr>
          <a:xfrm>
            <a:off x="571500" y="2440818"/>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Swap synthetic data for real utility SCADA feeds.</a:t>
            </a:r>
            <a:endParaRPr lang="en-US" sz="850" dirty="0"/>
          </a:p>
        </p:txBody>
      </p:sp>
      <p:sp>
        <p:nvSpPr>
          <p:cNvPr id="11" name="Shape 7"/>
          <p:cNvSpPr/>
          <p:nvPr/>
        </p:nvSpPr>
        <p:spPr>
          <a:xfrm>
            <a:off x="571500" y="2985083"/>
            <a:ext cx="57150" cy="14288"/>
          </a:xfrm>
          <a:prstGeom prst="rect">
            <a:avLst/>
          </a:prstGeom>
          <a:solidFill>
            <a:srgbClr val="00E5FF"/>
          </a:solidFill>
          <a:ln/>
        </p:spPr>
      </p:sp>
      <p:sp>
        <p:nvSpPr>
          <p:cNvPr id="12" name="Text 8"/>
          <p:cNvSpPr/>
          <p:nvPr/>
        </p:nvSpPr>
        <p:spPr>
          <a:xfrm>
            <a:off x="571500" y="2913645"/>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Connect live NOAA/NWS severe-weather alerts.</a:t>
            </a:r>
            <a:endParaRPr lang="en-US" sz="850" dirty="0"/>
          </a:p>
        </p:txBody>
      </p:sp>
      <p:sp>
        <p:nvSpPr>
          <p:cNvPr id="13" name="Shape 9"/>
          <p:cNvSpPr/>
          <p:nvPr/>
        </p:nvSpPr>
        <p:spPr>
          <a:xfrm>
            <a:off x="571500" y="3457910"/>
            <a:ext cx="57150" cy="14288"/>
          </a:xfrm>
          <a:prstGeom prst="rect">
            <a:avLst/>
          </a:prstGeom>
          <a:solidFill>
            <a:srgbClr val="00E5FF"/>
          </a:solidFill>
          <a:ln/>
        </p:spPr>
      </p:sp>
      <p:sp>
        <p:nvSpPr>
          <p:cNvPr id="14" name="Text 10"/>
          <p:cNvSpPr/>
          <p:nvPr/>
        </p:nvSpPr>
        <p:spPr>
          <a:xfrm>
            <a:off x="571500" y="3386472"/>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Zero structural changes required to model architecture.</a:t>
            </a:r>
            <a:endParaRPr lang="en-US" sz="850" dirty="0"/>
          </a:p>
        </p:txBody>
      </p:sp>
      <p:sp>
        <p:nvSpPr>
          <p:cNvPr id="15" name="Shape 11"/>
          <p:cNvSpPr/>
          <p:nvPr/>
        </p:nvSpPr>
        <p:spPr>
          <a:xfrm>
            <a:off x="3214688" y="1522847"/>
            <a:ext cx="2714625" cy="2833613"/>
          </a:xfrm>
          <a:prstGeom prst="rect">
            <a:avLst/>
          </a:prstGeom>
          <a:solidFill>
            <a:srgbClr val="111C3A"/>
          </a:solidFill>
          <a:ln/>
        </p:spPr>
      </p:sp>
      <p:sp>
        <p:nvSpPr>
          <p:cNvPr id="16" name="Shape 12"/>
          <p:cNvSpPr/>
          <p:nvPr/>
        </p:nvSpPr>
        <p:spPr>
          <a:xfrm>
            <a:off x="3214688" y="1522847"/>
            <a:ext cx="2714625" cy="28575"/>
          </a:xfrm>
          <a:prstGeom prst="rect">
            <a:avLst/>
          </a:prstGeom>
          <a:solidFill>
            <a:srgbClr val="FFB703"/>
          </a:solidFill>
          <a:ln/>
        </p:spPr>
      </p:sp>
      <p:sp>
        <p:nvSpPr>
          <p:cNvPr id="17" name="Text 13"/>
          <p:cNvSpPr/>
          <p:nvPr/>
        </p:nvSpPr>
        <p:spPr>
          <a:xfrm>
            <a:off x="3500438" y="1808597"/>
            <a:ext cx="2143125" cy="128588"/>
          </a:xfrm>
          <a:prstGeom prst="rect">
            <a:avLst/>
          </a:prstGeom>
          <a:noFill/>
          <a:ln/>
        </p:spPr>
        <p:txBody>
          <a:bodyPr wrap="square" lIns="0" tIns="0" rIns="0" bIns="0" rtlCol="0" anchor="t">
            <a:spAutoFit/>
          </a:bodyPr>
          <a:lstStyle/>
          <a:p>
            <a:pPr algn="l" indent="0" marL="0">
              <a:buNone/>
            </a:pPr>
            <a:r>
              <a:rPr lang="en-US" sz="750" spc="2" kern="0" dirty="0">
                <a:solidFill>
                  <a:srgbClr val="8D99AE"/>
                </a:solidFill>
                <a:latin typeface="Space Grotesk Bold" pitchFamily="34" charset="0"/>
                <a:ea typeface="Space Grotesk Bold" pitchFamily="34" charset="-122"/>
                <a:cs typeface="Space Grotesk Bold" pitchFamily="34" charset="-120"/>
              </a:rPr>
              <a:t>MEDIUM-TERM</a:t>
            </a:r>
            <a:endParaRPr lang="en-US" sz="750" dirty="0"/>
          </a:p>
        </p:txBody>
      </p:sp>
      <p:sp>
        <p:nvSpPr>
          <p:cNvPr id="18" name="Text 14"/>
          <p:cNvSpPr/>
          <p:nvPr/>
        </p:nvSpPr>
        <p:spPr>
          <a:xfrm>
            <a:off x="3500438" y="2080059"/>
            <a:ext cx="2143125" cy="217884"/>
          </a:xfrm>
          <a:prstGeom prst="rect">
            <a:avLst/>
          </a:prstGeom>
          <a:noFill/>
          <a:ln/>
        </p:spPr>
        <p:txBody>
          <a:bodyPr wrap="square" lIns="0" tIns="0" rIns="0" bIns="0" rtlCol="0" anchor="t">
            <a:spAutoFit/>
          </a:bodyPr>
          <a:lstStyle/>
          <a:p>
            <a:pPr algn="l" indent="0" marL="0">
              <a:buNone/>
            </a:pPr>
            <a:r>
              <a:rPr lang="en-US" sz="1200" b="1" dirty="0">
                <a:solidFill>
                  <a:srgbClr val="F0F4F8"/>
                </a:solidFill>
                <a:latin typeface="Space Grotesk Bold" pitchFamily="34" charset="0"/>
                <a:ea typeface="Space Grotesk Bold" pitchFamily="34" charset="-122"/>
                <a:cs typeface="Space Grotesk Bold" pitchFamily="34" charset="-120"/>
              </a:rPr>
              <a:t>Optimization</a:t>
            </a:r>
            <a:endParaRPr lang="en-US" sz="1200" dirty="0"/>
          </a:p>
        </p:txBody>
      </p:sp>
      <p:sp>
        <p:nvSpPr>
          <p:cNvPr id="19" name="Shape 15"/>
          <p:cNvSpPr/>
          <p:nvPr/>
        </p:nvSpPr>
        <p:spPr>
          <a:xfrm>
            <a:off x="3500438" y="2512256"/>
            <a:ext cx="57150" cy="14288"/>
          </a:xfrm>
          <a:prstGeom prst="rect">
            <a:avLst/>
          </a:prstGeom>
          <a:solidFill>
            <a:srgbClr val="FFB703"/>
          </a:solidFill>
          <a:ln/>
        </p:spPr>
      </p:sp>
      <p:sp>
        <p:nvSpPr>
          <p:cNvPr id="20" name="Text 16"/>
          <p:cNvSpPr/>
          <p:nvPr/>
        </p:nvSpPr>
        <p:spPr>
          <a:xfrm>
            <a:off x="3500438" y="2440818"/>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Retrain on utility-specific historical incident records.</a:t>
            </a:r>
            <a:endParaRPr lang="en-US" sz="850" dirty="0"/>
          </a:p>
        </p:txBody>
      </p:sp>
      <p:sp>
        <p:nvSpPr>
          <p:cNvPr id="21" name="Shape 17"/>
          <p:cNvSpPr/>
          <p:nvPr/>
        </p:nvSpPr>
        <p:spPr>
          <a:xfrm>
            <a:off x="3500438" y="2985083"/>
            <a:ext cx="57150" cy="14288"/>
          </a:xfrm>
          <a:prstGeom prst="rect">
            <a:avLst/>
          </a:prstGeom>
          <a:solidFill>
            <a:srgbClr val="FFB703"/>
          </a:solidFill>
          <a:ln/>
        </p:spPr>
      </p:sp>
      <p:sp>
        <p:nvSpPr>
          <p:cNvPr id="22" name="Text 18"/>
          <p:cNvSpPr/>
          <p:nvPr/>
        </p:nvSpPr>
        <p:spPr>
          <a:xfrm>
            <a:off x="3500438" y="2913645"/>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Tune models to local fleet and operating environments.</a:t>
            </a:r>
            <a:endParaRPr lang="en-US" sz="850" dirty="0"/>
          </a:p>
        </p:txBody>
      </p:sp>
      <p:sp>
        <p:nvSpPr>
          <p:cNvPr id="23" name="Shape 19"/>
          <p:cNvSpPr/>
          <p:nvPr/>
        </p:nvSpPr>
        <p:spPr>
          <a:xfrm>
            <a:off x="3500438" y="3457910"/>
            <a:ext cx="57150" cy="14288"/>
          </a:xfrm>
          <a:prstGeom prst="rect">
            <a:avLst/>
          </a:prstGeom>
          <a:solidFill>
            <a:srgbClr val="FFB703"/>
          </a:solidFill>
          <a:ln/>
        </p:spPr>
      </p:sp>
      <p:sp>
        <p:nvSpPr>
          <p:cNvPr id="24" name="Text 20"/>
          <p:cNvSpPr/>
          <p:nvPr/>
        </p:nvSpPr>
        <p:spPr>
          <a:xfrm>
            <a:off x="3500438" y="3386472"/>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Refine severity weights based on operational feedback.</a:t>
            </a:r>
            <a:endParaRPr lang="en-US" sz="850" dirty="0"/>
          </a:p>
        </p:txBody>
      </p:sp>
      <p:sp>
        <p:nvSpPr>
          <p:cNvPr id="25" name="Shape 21"/>
          <p:cNvSpPr/>
          <p:nvPr/>
        </p:nvSpPr>
        <p:spPr>
          <a:xfrm>
            <a:off x="6143625" y="1522847"/>
            <a:ext cx="2714625" cy="2833613"/>
          </a:xfrm>
          <a:prstGeom prst="rect">
            <a:avLst/>
          </a:prstGeom>
          <a:solidFill>
            <a:srgbClr val="111C3A"/>
          </a:solidFill>
          <a:ln/>
        </p:spPr>
      </p:sp>
      <p:sp>
        <p:nvSpPr>
          <p:cNvPr id="26" name="Shape 22"/>
          <p:cNvSpPr/>
          <p:nvPr/>
        </p:nvSpPr>
        <p:spPr>
          <a:xfrm>
            <a:off x="6143625" y="1522847"/>
            <a:ext cx="2714625" cy="28575"/>
          </a:xfrm>
          <a:prstGeom prst="rect">
            <a:avLst/>
          </a:prstGeom>
          <a:solidFill>
            <a:srgbClr val="F0F4F8"/>
          </a:solidFill>
          <a:ln/>
        </p:spPr>
      </p:sp>
      <p:sp>
        <p:nvSpPr>
          <p:cNvPr id="27" name="Text 23"/>
          <p:cNvSpPr/>
          <p:nvPr/>
        </p:nvSpPr>
        <p:spPr>
          <a:xfrm>
            <a:off x="6429375" y="1822884"/>
            <a:ext cx="2143125" cy="128588"/>
          </a:xfrm>
          <a:prstGeom prst="rect">
            <a:avLst/>
          </a:prstGeom>
          <a:noFill/>
          <a:ln/>
        </p:spPr>
        <p:txBody>
          <a:bodyPr wrap="square" lIns="0" tIns="0" rIns="0" bIns="0" rtlCol="0" anchor="t">
            <a:spAutoFit/>
          </a:bodyPr>
          <a:lstStyle/>
          <a:p>
            <a:pPr algn="l" indent="0" marL="0">
              <a:buNone/>
            </a:pPr>
            <a:r>
              <a:rPr lang="en-US" sz="750" spc="2" kern="0" dirty="0">
                <a:solidFill>
                  <a:srgbClr val="8D99AE"/>
                </a:solidFill>
                <a:latin typeface="Space Grotesk Bold" pitchFamily="34" charset="0"/>
                <a:ea typeface="Space Grotesk Bold" pitchFamily="34" charset="-122"/>
                <a:cs typeface="Space Grotesk Bold" pitchFamily="34" charset="-120"/>
              </a:rPr>
              <a:t>AT SCALE</a:t>
            </a:r>
            <a:endParaRPr lang="en-US" sz="750" dirty="0"/>
          </a:p>
        </p:txBody>
      </p:sp>
      <p:sp>
        <p:nvSpPr>
          <p:cNvPr id="28" name="Text 24"/>
          <p:cNvSpPr/>
          <p:nvPr/>
        </p:nvSpPr>
        <p:spPr>
          <a:xfrm>
            <a:off x="6429375" y="2094347"/>
            <a:ext cx="2143125" cy="217884"/>
          </a:xfrm>
          <a:prstGeom prst="rect">
            <a:avLst/>
          </a:prstGeom>
          <a:noFill/>
          <a:ln/>
        </p:spPr>
        <p:txBody>
          <a:bodyPr wrap="square" lIns="0" tIns="0" rIns="0" bIns="0" rtlCol="0" anchor="t">
            <a:spAutoFit/>
          </a:bodyPr>
          <a:lstStyle/>
          <a:p>
            <a:pPr algn="l" indent="0" marL="0">
              <a:buNone/>
            </a:pPr>
            <a:r>
              <a:rPr lang="en-US" sz="1200" b="1" dirty="0">
                <a:solidFill>
                  <a:srgbClr val="F0F4F8"/>
                </a:solidFill>
                <a:latin typeface="Space Grotesk Bold" pitchFamily="34" charset="0"/>
                <a:ea typeface="Space Grotesk Bold" pitchFamily="34" charset="-122"/>
                <a:cs typeface="Space Grotesk Bold" pitchFamily="34" charset="-120"/>
              </a:rPr>
              <a:t>Grid Impact</a:t>
            </a:r>
            <a:endParaRPr lang="en-US" sz="1200" dirty="0"/>
          </a:p>
        </p:txBody>
      </p:sp>
      <p:sp>
        <p:nvSpPr>
          <p:cNvPr id="29" name="Shape 25"/>
          <p:cNvSpPr/>
          <p:nvPr/>
        </p:nvSpPr>
        <p:spPr>
          <a:xfrm>
            <a:off x="6429375" y="2526543"/>
            <a:ext cx="57150" cy="14288"/>
          </a:xfrm>
          <a:prstGeom prst="rect">
            <a:avLst/>
          </a:prstGeom>
          <a:solidFill>
            <a:srgbClr val="F0F4F8"/>
          </a:solidFill>
          <a:ln/>
        </p:spPr>
      </p:sp>
      <p:sp>
        <p:nvSpPr>
          <p:cNvPr id="30" name="Text 26"/>
          <p:cNvSpPr/>
          <p:nvPr/>
        </p:nvSpPr>
        <p:spPr>
          <a:xfrm>
            <a:off x="6429375" y="2455106"/>
            <a:ext cx="2143125" cy="548506"/>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Reduce emergency maintenance costs by flagging outages weeks in advance.</a:t>
            </a:r>
            <a:endParaRPr lang="en-US" sz="850" dirty="0"/>
          </a:p>
        </p:txBody>
      </p:sp>
      <p:sp>
        <p:nvSpPr>
          <p:cNvPr id="31" name="Shape 27"/>
          <p:cNvSpPr/>
          <p:nvPr/>
        </p:nvSpPr>
        <p:spPr>
          <a:xfrm>
            <a:off x="6429375" y="3182206"/>
            <a:ext cx="57150" cy="14288"/>
          </a:xfrm>
          <a:prstGeom prst="rect">
            <a:avLst/>
          </a:prstGeom>
          <a:solidFill>
            <a:srgbClr val="F0F4F8"/>
          </a:solidFill>
          <a:ln/>
        </p:spPr>
      </p:sp>
      <p:sp>
        <p:nvSpPr>
          <p:cNvPr id="32" name="Text 28"/>
          <p:cNvSpPr/>
          <p:nvPr/>
        </p:nvSpPr>
        <p:spPr>
          <a:xfrm>
            <a:off x="6429375" y="3110768"/>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Improve SAIDI/SAIFI reliability metrics.</a:t>
            </a:r>
            <a:endParaRPr lang="en-US" sz="850" dirty="0"/>
          </a:p>
        </p:txBody>
      </p:sp>
      <p:sp>
        <p:nvSpPr>
          <p:cNvPr id="33" name="Shape 29"/>
          <p:cNvSpPr/>
          <p:nvPr/>
        </p:nvSpPr>
        <p:spPr>
          <a:xfrm>
            <a:off x="6429375" y="3655033"/>
            <a:ext cx="57150" cy="14288"/>
          </a:xfrm>
          <a:prstGeom prst="rect">
            <a:avLst/>
          </a:prstGeom>
          <a:solidFill>
            <a:srgbClr val="F0F4F8"/>
          </a:solidFill>
          <a:ln/>
        </p:spPr>
      </p:sp>
      <p:sp>
        <p:nvSpPr>
          <p:cNvPr id="34" name="Text 30"/>
          <p:cNvSpPr/>
          <p:nvPr/>
        </p:nvSpPr>
        <p:spPr>
          <a:xfrm>
            <a:off x="6429375" y="3583595"/>
            <a:ext cx="2143125" cy="365671"/>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F0F4F8"/>
                </a:solidFill>
                <a:latin typeface="Inter" pitchFamily="34" charset="0"/>
                <a:ea typeface="Inter" pitchFamily="34" charset="-122"/>
                <a:cs typeface="Inter" pitchFamily="34" charset="-120"/>
              </a:rPr>
              <a:t>Enable higher renewable utilization within safe limits.</a:t>
            </a:r>
            <a:endParaRPr lang="en-US" sz="850" dirty="0"/>
          </a:p>
        </p:txBody>
      </p:sp>
      <p:sp>
        <p:nvSpPr>
          <p:cNvPr id="35" name="Text 31"/>
          <p:cNvSpPr/>
          <p:nvPr/>
        </p:nvSpPr>
        <p:spPr>
          <a:xfrm>
            <a:off x="8733234" y="4736306"/>
            <a:ext cx="125016"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5750" y="285750"/>
            <a:ext cx="8572500" cy="660071"/>
          </a:xfrm>
          <a:prstGeom prst="rect">
            <a:avLst/>
          </a:prstGeom>
          <a:noFill/>
          <a:ln/>
        </p:spPr>
        <p:txBody>
          <a:bodyPr wrap="none" lIns="0" tIns="0" rIns="0" bIns="0" rtlCol="0" anchor="t">
            <a:spAutoFit/>
          </a:bodyPr>
          <a:lstStyle/>
          <a:p>
            <a:pPr algn="l" indent="0" marL="0">
              <a:lnSpc>
                <a:spcPct val="88000"/>
              </a:lnSpc>
              <a:buNone/>
            </a:pPr>
            <a:r>
              <a:rPr lang="en-US" sz="4350" b="1" spc="-2" kern="0" dirty="0">
                <a:solidFill>
                  <a:srgbClr val="F0F4F8"/>
                </a:solidFill>
                <a:latin typeface="Space Grotesk Bold" pitchFamily="34" charset="0"/>
                <a:ea typeface="Space Grotesk Bold" pitchFamily="34" charset="-122"/>
                <a:cs typeface="Space Grotesk Bold" pitchFamily="34" charset="-120"/>
              </a:rPr>
              <a:t>FUSE. RANK. ACT.</a:t>
            </a:r>
            <a:endParaRPr lang="en-US" sz="4350" dirty="0"/>
          </a:p>
        </p:txBody>
      </p:sp>
      <p:sp>
        <p:nvSpPr>
          <p:cNvPr id="5" name="Text 1"/>
          <p:cNvSpPr/>
          <p:nvPr/>
        </p:nvSpPr>
        <p:spPr>
          <a:xfrm>
            <a:off x="285750" y="1431596"/>
            <a:ext cx="5715000" cy="550069"/>
          </a:xfrm>
          <a:prstGeom prst="rect">
            <a:avLst/>
          </a:prstGeom>
          <a:noFill/>
          <a:ln/>
        </p:spPr>
        <p:txBody>
          <a:bodyPr wrap="square" lIns="0" tIns="0" rIns="0" bIns="0" rtlCol="0" anchor="t">
            <a:spAutoFit/>
          </a:bodyPr>
          <a:lstStyle/>
          <a:p>
            <a:pPr algn="l" indent="0" marL="0">
              <a:buNone/>
            </a:pPr>
            <a:r>
              <a:rPr lang="en-US" sz="1700" dirty="0">
                <a:solidFill>
                  <a:srgbClr val="8D99AE"/>
                </a:solidFill>
                <a:latin typeface="Inter" pitchFamily="34" charset="0"/>
                <a:ea typeface="Inter" pitchFamily="34" charset="-122"/>
                <a:cs typeface="Inter" pitchFamily="34" charset="-120"/>
              </a:rPr>
              <a:t>Grid Guard turns signals utilities already have into decisions crews can use.</a:t>
            </a:r>
            <a:endParaRPr lang="en-US" sz="1700" dirty="0"/>
          </a:p>
        </p:txBody>
      </p:sp>
      <p:sp>
        <p:nvSpPr>
          <p:cNvPr id="6" name="Text 2"/>
          <p:cNvSpPr/>
          <p:nvPr/>
        </p:nvSpPr>
        <p:spPr>
          <a:xfrm>
            <a:off x="285750" y="4482703"/>
            <a:ext cx="4143375" cy="128588"/>
          </a:xfrm>
          <a:prstGeom prst="rect">
            <a:avLst/>
          </a:prstGeom>
          <a:noFill/>
          <a:ln/>
        </p:spPr>
        <p:txBody>
          <a:bodyPr wrap="square" lIns="0" tIns="0" rIns="0" bIns="0" rtlCol="0" anchor="t">
            <a:spAutoFit/>
          </a:bodyPr>
          <a:lstStyle/>
          <a:p>
            <a:pPr algn="l" indent="0" marL="0">
              <a:buNone/>
            </a:pPr>
            <a:r>
              <a:rPr lang="en-US" sz="700" b="1" spc="2" kern="0" dirty="0">
                <a:solidFill>
                  <a:srgbClr val="00E5FF"/>
                </a:solidFill>
                <a:latin typeface="Space Grotesk Bold" pitchFamily="34" charset="0"/>
                <a:ea typeface="Space Grotesk Bold" pitchFamily="34" charset="-122"/>
                <a:cs typeface="Space Grotesk Bold" pitchFamily="34" charset="-120"/>
              </a:rPr>
              <a:t>TEAM MAVERICK</a:t>
            </a:r>
            <a:endParaRPr lang="en-US" sz="700" dirty="0"/>
          </a:p>
        </p:txBody>
      </p:sp>
      <p:sp>
        <p:nvSpPr>
          <p:cNvPr id="7" name="Text 3"/>
          <p:cNvSpPr/>
          <p:nvPr/>
        </p:nvSpPr>
        <p:spPr>
          <a:xfrm>
            <a:off x="285750" y="4682728"/>
            <a:ext cx="4143375" cy="175022"/>
          </a:xfrm>
          <a:prstGeom prst="rect">
            <a:avLst/>
          </a:prstGeom>
          <a:noFill/>
          <a:ln/>
        </p:spPr>
        <p:txBody>
          <a:bodyPr wrap="square" lIns="0" tIns="0" rIns="0" bIns="0" rtlCol="0" anchor="t">
            <a:spAutoFit/>
          </a:bodyPr>
          <a:lstStyle/>
          <a:p>
            <a:pPr algn="l" indent="0" marL="0">
              <a:buNone/>
            </a:pPr>
            <a:r>
              <a:rPr lang="en-US" sz="1000" b="1" dirty="0">
                <a:solidFill>
                  <a:srgbClr val="F0F4F8"/>
                </a:solidFill>
                <a:latin typeface="Inter SemiBold" pitchFamily="34" charset="0"/>
                <a:ea typeface="Inter SemiBold" pitchFamily="34" charset="-122"/>
                <a:cs typeface="Inter SemiBold" pitchFamily="34" charset="-120"/>
              </a:rPr>
              <a:t>Heet Dadhaniya, Axit Dudhat, Aryan Jivani, Parth Vora</a:t>
            </a:r>
            <a:endParaRPr lang="en-US" sz="1000" dirty="0"/>
          </a:p>
        </p:txBody>
      </p:sp>
      <p:sp>
        <p:nvSpPr>
          <p:cNvPr id="8" name="Text 4"/>
          <p:cNvSpPr/>
          <p:nvPr/>
        </p:nvSpPr>
        <p:spPr>
          <a:xfrm>
            <a:off x="4714875" y="4482703"/>
            <a:ext cx="4143375" cy="128588"/>
          </a:xfrm>
          <a:prstGeom prst="rect">
            <a:avLst/>
          </a:prstGeom>
          <a:noFill/>
          <a:ln/>
        </p:spPr>
        <p:txBody>
          <a:bodyPr wrap="square" lIns="0" tIns="0" rIns="0" bIns="0" rtlCol="0" anchor="t">
            <a:spAutoFit/>
          </a:bodyPr>
          <a:lstStyle/>
          <a:p>
            <a:pPr algn="l" indent="0" marL="0">
              <a:buNone/>
            </a:pPr>
            <a:r>
              <a:rPr lang="en-US" sz="700" b="1" spc="2" kern="0" dirty="0">
                <a:solidFill>
                  <a:srgbClr val="00E5FF"/>
                </a:solidFill>
                <a:latin typeface="Space Grotesk Bold" pitchFamily="34" charset="0"/>
                <a:ea typeface="Space Grotesk Bold" pitchFamily="34" charset="-122"/>
                <a:cs typeface="Space Grotesk Bold" pitchFamily="34" charset="-120"/>
              </a:rPr>
              <a:t>CONTACT / DEMO</a:t>
            </a:r>
            <a:endParaRPr lang="en-US" sz="700" dirty="0"/>
          </a:p>
        </p:txBody>
      </p:sp>
      <p:sp>
        <p:nvSpPr>
          <p:cNvPr id="9" name="Text 5"/>
          <p:cNvSpPr/>
          <p:nvPr/>
        </p:nvSpPr>
        <p:spPr>
          <a:xfrm>
            <a:off x="4714875" y="4682728"/>
            <a:ext cx="4143375" cy="175022"/>
          </a:xfrm>
          <a:prstGeom prst="rect">
            <a:avLst/>
          </a:prstGeom>
          <a:noFill/>
          <a:ln/>
        </p:spPr>
        <p:txBody>
          <a:bodyPr wrap="square" lIns="0" tIns="0" rIns="0" bIns="0" rtlCol="0" anchor="t">
            <a:spAutoFit/>
          </a:bodyPr>
          <a:lstStyle/>
          <a:p>
            <a:pPr algn="l" indent="0" marL="0">
              <a:buNone/>
            </a:pPr>
            <a:r>
              <a:rPr lang="en-US" sz="1000" b="1" dirty="0">
                <a:solidFill>
                  <a:srgbClr val="F0F4F8"/>
                </a:solidFill>
                <a:latin typeface="Inter SemiBold" pitchFamily="34" charset="0"/>
                <a:ea typeface="Inter SemiBold" pitchFamily="34" charset="-122"/>
                <a:cs typeface="Inter SemiBold" pitchFamily="34" charset="-120"/>
              </a:rPr>
              <a:t>Bobathon 2026 · Track: AI · Use Case: U1</a:t>
            </a:r>
            <a:endParaRPr lang="en-US" sz="1000" dirty="0"/>
          </a:p>
        </p:txBody>
      </p:sp>
      <p:sp>
        <p:nvSpPr>
          <p:cNvPr id="10" name="Text 6"/>
          <p:cNvSpPr/>
          <p:nvPr/>
        </p:nvSpPr>
        <p:spPr>
          <a:xfrm>
            <a:off x="8733234" y="4736306"/>
            <a:ext cx="125016" cy="121444"/>
          </a:xfrm>
          <a:prstGeom prst="rect">
            <a:avLst/>
          </a:prstGeom>
          <a:noFill/>
          <a:ln/>
        </p:spPr>
        <p:txBody>
          <a:bodyPr wrap="none" lIns="0" tIns="0" rIns="0" bIns="0" rtlCol="0" anchor="t">
            <a:spAutoFit/>
          </a:bodyPr>
          <a:lstStyle/>
          <a:p>
            <a:pPr algn="l" indent="0" marL="0">
              <a:buNone/>
            </a:pPr>
            <a:r>
              <a:rPr lang="en-US" sz="750" dirty="0">
                <a:solidFill>
                  <a:srgbClr val="8D99AE"/>
                </a:solidFill>
                <a:latin typeface="Inter" pitchFamily="34" charset="0"/>
                <a:ea typeface="Inter" pitchFamily="34" charset="-122"/>
                <a:cs typeface="Inter" pitchFamily="34" charset="-120"/>
              </a:rPr>
              <a:t>09</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2026-09-15T15:36:49Z</dcterms:created>
  <dcterms:modified xsi:type="dcterms:W3CDTF">2026-09-15T15:36:49Z</dcterms:modified>
</cp:coreProperties>
</file>